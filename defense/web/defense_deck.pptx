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96009" y="1212354"/>
            <a:ext cx="91440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391817" y="2559844"/>
            <a:ext cx="3490168" cy="657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743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ANN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723900" y="5757863"/>
            <a:ext cx="1138833" cy="20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C1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 Paradox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996083" y="5734050"/>
            <a:ext cx="6217146" cy="247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Ikramul Hasan Moral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Md. Abu Bakar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Samiur Rahman Omlan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Fariha Islam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Md. Touhidul Islam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96083" y="5734050"/>
            <a:ext cx="1327100" cy="247650"/>
          </a:xfrm>
          <a:prstGeom prst="rect">
            <a:avLst/>
          </a:prstGeom>
          <a:noFill/>
          <a:ln/>
        </p:spPr>
        <p:txBody>
          <a:bodyPr wrap="square" lIns="1588" tIns="794" rIns="1588" bIns="794" rtlCol="0" anchor="t"/>
          <a:lstStyle/>
          <a:p>
            <a:pPr algn="l" indent="0" marL="0">
              <a:buNone/>
            </a:pPr>
            <a:r>
              <a:rPr lang="en-US" sz="93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Ikramul Hasan Moral</a:t>
            </a:r>
            <a:endParaRPr lang="en-US" sz="938" dirty="0"/>
          </a:p>
        </p:txBody>
      </p:sp>
      <p:sp>
        <p:nvSpPr>
          <p:cNvPr id="7" name="Text 5"/>
          <p:cNvSpPr/>
          <p:nvPr/>
        </p:nvSpPr>
        <p:spPr>
          <a:xfrm>
            <a:off x="3399383" y="5734050"/>
            <a:ext cx="1009650" cy="247650"/>
          </a:xfrm>
          <a:prstGeom prst="rect">
            <a:avLst/>
          </a:prstGeom>
          <a:noFill/>
          <a:ln/>
        </p:spPr>
        <p:txBody>
          <a:bodyPr wrap="square" lIns="1588" tIns="794" rIns="1588" bIns="794" rtlCol="0" anchor="t"/>
          <a:lstStyle/>
          <a:p>
            <a:pPr algn="l" indent="0" marL="0">
              <a:buNone/>
            </a:pPr>
            <a:r>
              <a:rPr lang="en-US" sz="93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Md. Abu Bakar</a:t>
            </a:r>
            <a:endParaRPr lang="en-US" sz="938" dirty="0"/>
          </a:p>
        </p:txBody>
      </p:sp>
      <p:sp>
        <p:nvSpPr>
          <p:cNvPr id="8" name="Text 6"/>
          <p:cNvSpPr/>
          <p:nvPr/>
        </p:nvSpPr>
        <p:spPr>
          <a:xfrm>
            <a:off x="4485233" y="5734050"/>
            <a:ext cx="1472654" cy="247650"/>
          </a:xfrm>
          <a:prstGeom prst="rect">
            <a:avLst/>
          </a:prstGeom>
          <a:noFill/>
          <a:ln/>
        </p:spPr>
        <p:txBody>
          <a:bodyPr wrap="square" lIns="1588" tIns="794" rIns="1588" bIns="794" rtlCol="0" anchor="t"/>
          <a:lstStyle/>
          <a:p>
            <a:pPr algn="l" indent="0" marL="0">
              <a:buNone/>
            </a:pPr>
            <a:r>
              <a:rPr lang="en-US" sz="93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Samiur Rahman Omlan</a:t>
            </a:r>
            <a:endParaRPr lang="en-US" sz="938" dirty="0"/>
          </a:p>
        </p:txBody>
      </p:sp>
      <p:sp>
        <p:nvSpPr>
          <p:cNvPr id="9" name="Text 7"/>
          <p:cNvSpPr/>
          <p:nvPr/>
        </p:nvSpPr>
        <p:spPr>
          <a:xfrm>
            <a:off x="6034088" y="5734050"/>
            <a:ext cx="883741" cy="247650"/>
          </a:xfrm>
          <a:prstGeom prst="rect">
            <a:avLst/>
          </a:prstGeom>
          <a:noFill/>
          <a:ln/>
        </p:spPr>
        <p:txBody>
          <a:bodyPr wrap="square" lIns="1588" tIns="794" rIns="1588" bIns="794" rtlCol="0" anchor="t"/>
          <a:lstStyle/>
          <a:p>
            <a:pPr algn="l" indent="0" marL="0">
              <a:buNone/>
            </a:pPr>
            <a:r>
              <a:rPr lang="en-US" sz="93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Fariha Islam</a:t>
            </a:r>
            <a:endParaRPr lang="en-US" sz="938" dirty="0"/>
          </a:p>
        </p:txBody>
      </p:sp>
      <p:sp>
        <p:nvSpPr>
          <p:cNvPr id="10" name="Text 8"/>
          <p:cNvSpPr/>
          <p:nvPr/>
        </p:nvSpPr>
        <p:spPr>
          <a:xfrm>
            <a:off x="6994029" y="5734050"/>
            <a:ext cx="1219200" cy="247650"/>
          </a:xfrm>
          <a:prstGeom prst="rect">
            <a:avLst/>
          </a:prstGeom>
          <a:noFill/>
          <a:ln/>
        </p:spPr>
        <p:txBody>
          <a:bodyPr wrap="square" lIns="1588" tIns="794" rIns="1588" bIns="794" rtlCol="0" anchor="t"/>
          <a:lstStyle/>
          <a:p>
            <a:pPr algn="l" indent="0" marL="0">
              <a:buNone/>
            </a:pPr>
            <a:r>
              <a:rPr lang="en-US" sz="93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Md. Touhidul Islam</a:t>
            </a:r>
            <a:endParaRPr lang="en-US" sz="938" dirty="0"/>
          </a:p>
        </p:txBody>
      </p:sp>
      <p:sp>
        <p:nvSpPr>
          <p:cNvPr id="11" name="Text 9"/>
          <p:cNvSpPr/>
          <p:nvPr/>
        </p:nvSpPr>
        <p:spPr>
          <a:xfrm>
            <a:off x="723900" y="6086475"/>
            <a:ext cx="3926384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SupervisorDr. Muhammad Nomani Kabir, Professor, CSE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723900" y="6124575"/>
            <a:ext cx="810964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601539" y="6086475"/>
            <a:ext cx="1992660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Muhammad Nomani Kabir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4897934" y="6086475"/>
            <a:ext cx="3878759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TeacherDr. Md. Motaharul Islam, Professor, CSE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897934" y="6124575"/>
            <a:ext cx="1152227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TEACHER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116836" y="6086475"/>
            <a:ext cx="1603772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Md. Motaharul Islam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9024342" y="6086475"/>
            <a:ext cx="1056233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DateJune 2026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9024342" y="6124575"/>
            <a:ext cx="322064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857250"/>
            <a:ext cx="107442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71550" y="1962150"/>
            <a:ext cx="2959001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 Problem &amp; Objectives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971550" y="1962150"/>
            <a:ext cx="239316" cy="247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971550" y="2295525"/>
            <a:ext cx="2959001" cy="485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coupled ODEs are hard, and what we set out to do.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4616351" y="1962150"/>
            <a:ext cx="2959150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 Background &amp; Gap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4616351" y="1962150"/>
            <a:ext cx="239316" cy="247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4616351" y="2295525"/>
            <a:ext cx="2959150" cy="485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Lorenz system, ANN vs PINN, and the literature gap.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8261300" y="1962150"/>
            <a:ext cx="2959001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 Methodology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8261300" y="1962150"/>
            <a:ext cx="239316" cy="247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8261300" y="2295525"/>
            <a:ext cx="2959001" cy="485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two-phase, 69-run controlled architecture search.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971550" y="3467100"/>
            <a:ext cx="2959001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 Numerical Baseline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971550" y="3467100"/>
            <a:ext cx="239316" cy="247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971550" y="3800475"/>
            <a:ext cx="2959001" cy="242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dual-solver reference we can defend.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4616351" y="3467100"/>
            <a:ext cx="2959150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 Result &amp; Validation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4616351" y="3467100"/>
            <a:ext cx="239316" cy="247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4616351" y="3800475"/>
            <a:ext cx="2959150" cy="485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baseline verified to machine precision.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8261300" y="3467100"/>
            <a:ext cx="2959001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 Plan &amp; Conclusion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8261300" y="3467100"/>
            <a:ext cx="239316" cy="247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8261300" y="3800475"/>
            <a:ext cx="2959001" cy="485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FYDP-II roadmap and where we stand today.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/University/FYDP/resources/defense/web/.build_tmp/svg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777133"/>
            <a:ext cx="228600" cy="228600"/>
          </a:xfrm>
          <a:prstGeom prst="rect">
            <a:avLst/>
          </a:prstGeom>
        </p:spPr>
      </p:pic>
      <p:pic>
        <p:nvPicPr>
          <p:cNvPr id="3" name="Image 1" descr="E:/University/FYDP/resources/defense/web/.build_tmp/svg_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126" y="2655689"/>
            <a:ext cx="228600" cy="228600"/>
          </a:xfrm>
          <a:prstGeom prst="rect">
            <a:avLst/>
          </a:prstGeom>
        </p:spPr>
      </p:pic>
      <p:pic>
        <p:nvPicPr>
          <p:cNvPr id="4" name="Image 2" descr="E:/University/FYDP/resources/defense/web/.build_tmp/svg_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075" y="2655689"/>
            <a:ext cx="228600" cy="2286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971550" y="2672358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3552D8">
              <a:alpha val="12000"/>
            </a:srgbClr>
          </a:solidFill>
          <a:ln w="9525">
            <a:solidFill>
              <a:srgbClr val="3552D8"/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4616351" y="2550914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2622E">
              <a:alpha val="12000"/>
            </a:srgbClr>
          </a:solidFill>
          <a:ln w="9525">
            <a:solidFill>
              <a:srgbClr val="F2622E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8261300" y="2550914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0E9E8E">
              <a:alpha val="12000"/>
            </a:srgbClr>
          </a:solidFill>
          <a:ln w="9525">
            <a:solidFill>
              <a:srgbClr val="0E9E8E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1112639" y="609600"/>
            <a:ext cx="91440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23900" y="857250"/>
            <a:ext cx="107442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reasons this is hard</a:t>
            </a:r>
            <a:endParaRPr lang="en-US" sz="3000" dirty="0"/>
          </a:p>
        </p:txBody>
      </p:sp>
      <p:sp>
        <p:nvSpPr>
          <p:cNvPr id="10" name="Text 5"/>
          <p:cNvSpPr/>
          <p:nvPr/>
        </p:nvSpPr>
        <p:spPr>
          <a:xfrm>
            <a:off x="971550" y="3262908"/>
            <a:ext cx="2959001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closed form</a:t>
            </a:r>
            <a:endParaRPr lang="en-US" sz="1725" dirty="0"/>
          </a:p>
        </p:txBody>
      </p:sp>
      <p:sp>
        <p:nvSpPr>
          <p:cNvPr id="11" name="Text 6"/>
          <p:cNvSpPr/>
          <p:nvPr/>
        </p:nvSpPr>
        <p:spPr>
          <a:xfrm>
            <a:off x="971550" y="3596283"/>
            <a:ext cx="2959001" cy="485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Coupled nonlinear ODEs like Lorenz-1960 rarely admit an analytical solution.</a:t>
            </a:r>
            <a:endParaRPr lang="en-US" sz="1275" dirty="0"/>
          </a:p>
        </p:txBody>
      </p:sp>
      <p:sp>
        <p:nvSpPr>
          <p:cNvPr id="12" name="Text 7"/>
          <p:cNvSpPr/>
          <p:nvPr/>
        </p:nvSpPr>
        <p:spPr>
          <a:xfrm>
            <a:off x="4616351" y="3141464"/>
            <a:ext cx="2959150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Solvers are costly</a:t>
            </a:r>
            <a:endParaRPr lang="en-US" sz="1725" dirty="0"/>
          </a:p>
        </p:txBody>
      </p:sp>
      <p:sp>
        <p:nvSpPr>
          <p:cNvPr id="13" name="Text 8"/>
          <p:cNvSpPr/>
          <p:nvPr/>
        </p:nvSpPr>
        <p:spPr>
          <a:xfrm>
            <a:off x="4616351" y="3474839"/>
            <a:ext cx="2959150" cy="7286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RK4 is accurate but mesh-dependent — and must re-solve step-by-step for every new query.</a:t>
            </a:r>
            <a:endParaRPr lang="en-US" sz="1275" dirty="0"/>
          </a:p>
        </p:txBody>
      </p:sp>
      <p:sp>
        <p:nvSpPr>
          <p:cNvPr id="14" name="Text 9"/>
          <p:cNvSpPr/>
          <p:nvPr/>
        </p:nvSpPr>
        <p:spPr>
          <a:xfrm>
            <a:off x="8261300" y="3141464"/>
            <a:ext cx="2959001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nets lean on physics</a:t>
            </a:r>
            <a:endParaRPr lang="en-US" sz="1725" dirty="0"/>
          </a:p>
        </p:txBody>
      </p:sp>
      <p:sp>
        <p:nvSpPr>
          <p:cNvPr id="15" name="Text 10"/>
          <p:cNvSpPr/>
          <p:nvPr/>
        </p:nvSpPr>
        <p:spPr>
          <a:xfrm>
            <a:off x="8261300" y="3474839"/>
            <a:ext cx="2959001" cy="7286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neural ODE methods add physics-informed losses or operator learning to get there.</a:t>
            </a:r>
            <a:endParaRPr lang="en-US" sz="1275" dirty="0"/>
          </a:p>
        </p:txBody>
      </p:sp>
      <p:sp>
        <p:nvSpPr>
          <p:cNvPr id="16" name="Text 11"/>
          <p:cNvSpPr/>
          <p:nvPr/>
        </p:nvSpPr>
        <p:spPr>
          <a:xfrm>
            <a:off x="971550" y="5506641"/>
            <a:ext cx="1644848" cy="219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question:</a:t>
            </a:r>
            <a:endParaRPr lang="en-US" sz="1575" dirty="0"/>
          </a:p>
        </p:txBody>
      </p:sp>
      <p:sp>
        <p:nvSpPr>
          <p:cNvPr id="17" name="Text 12"/>
          <p:cNvSpPr/>
          <p:nvPr/>
        </p:nvSpPr>
        <p:spPr>
          <a:xfrm>
            <a:off x="3216920" y="5506641"/>
            <a:ext cx="2001441" cy="219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feedforward ANN</a:t>
            </a:r>
            <a:endParaRPr lang="en-US" sz="15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/University/FYDP/resources/defense/web/.build_tmp/svg_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066925"/>
            <a:ext cx="228600" cy="228600"/>
          </a:xfrm>
          <a:prstGeom prst="rect">
            <a:avLst/>
          </a:prstGeom>
        </p:spPr>
      </p:pic>
      <p:pic>
        <p:nvPicPr>
          <p:cNvPr id="3" name="Image 1" descr="E:/University/FYDP/resources/defense/web/.build_tmp/svg_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675" y="2066925"/>
            <a:ext cx="228600" cy="228600"/>
          </a:xfrm>
          <a:prstGeom prst="rect">
            <a:avLst/>
          </a:prstGeom>
        </p:spPr>
      </p:pic>
      <p:pic>
        <p:nvPicPr>
          <p:cNvPr id="4" name="Image 2" descr="E:/University/FYDP/resources/defense/web/.build_tmp/svg_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" y="4162425"/>
            <a:ext cx="228600" cy="228600"/>
          </a:xfrm>
          <a:prstGeom prst="rect">
            <a:avLst/>
          </a:prstGeom>
        </p:spPr>
      </p:pic>
      <p:pic>
        <p:nvPicPr>
          <p:cNvPr id="5" name="Image 3" descr="E:/University/FYDP/resources/defense/web/.build_tmp/svg_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675" y="4162425"/>
            <a:ext cx="228600" cy="2286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971550" y="19621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0E9E8E">
              <a:alpha val="12000"/>
            </a:srgbClr>
          </a:solidFill>
          <a:ln w="9525">
            <a:solidFill>
              <a:srgbClr val="0E9E8E"/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6438900" y="19621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3552D8">
              <a:alpha val="12000"/>
            </a:srgbClr>
          </a:solidFill>
          <a:ln w="9525">
            <a:solidFill>
              <a:srgbClr val="3552D8"/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971550" y="40576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2622E">
              <a:alpha val="12000"/>
            </a:srgbClr>
          </a:solidFill>
          <a:ln w="9525">
            <a:solidFill>
              <a:srgbClr val="F2622E"/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6438900" y="40576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0E9E8E">
              <a:alpha val="12000"/>
            </a:srgbClr>
          </a:solidFill>
          <a:ln w="9525">
            <a:solidFill>
              <a:srgbClr val="0E9E8E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1112639" y="609600"/>
            <a:ext cx="91440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723900" y="857250"/>
            <a:ext cx="107442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set out to do</a:t>
            </a:r>
            <a:endParaRPr lang="en-US" sz="3000" dirty="0"/>
          </a:p>
        </p:txBody>
      </p:sp>
      <p:sp>
        <p:nvSpPr>
          <p:cNvPr id="12" name="Text 6"/>
          <p:cNvSpPr/>
          <p:nvPr/>
        </p:nvSpPr>
        <p:spPr>
          <a:xfrm>
            <a:off x="971550" y="2552700"/>
            <a:ext cx="4781550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trusted reference</a:t>
            </a:r>
            <a:endParaRPr lang="en-US" sz="1725" dirty="0"/>
          </a:p>
        </p:txBody>
      </p:sp>
      <p:sp>
        <p:nvSpPr>
          <p:cNvPr id="13" name="Text 7"/>
          <p:cNvSpPr/>
          <p:nvPr/>
        </p:nvSpPr>
        <p:spPr>
          <a:xfrm>
            <a:off x="971550" y="2886075"/>
            <a:ext cx="4781550" cy="485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Lorenz-1960 with RK4 and SciPy, then cross-validate the two solvers.</a:t>
            </a:r>
            <a:endParaRPr lang="en-US" sz="1275" dirty="0"/>
          </a:p>
        </p:txBody>
      </p:sp>
      <p:sp>
        <p:nvSpPr>
          <p:cNvPr id="14" name="Text 8"/>
          <p:cNvSpPr/>
          <p:nvPr/>
        </p:nvSpPr>
        <p:spPr>
          <a:xfrm>
            <a:off x="6438900" y="2552700"/>
            <a:ext cx="4781550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the architecture space</a:t>
            </a:r>
            <a:endParaRPr lang="en-US" sz="1725" dirty="0"/>
          </a:p>
        </p:txBody>
      </p:sp>
      <p:sp>
        <p:nvSpPr>
          <p:cNvPr id="15" name="Text 9"/>
          <p:cNvSpPr/>
          <p:nvPr/>
        </p:nvSpPr>
        <p:spPr>
          <a:xfrm>
            <a:off x="6438900" y="2886075"/>
            <a:ext cx="4781550" cy="485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Systematically vary depth, width, and activation — plain ANN, no physics aids.</a:t>
            </a:r>
            <a:endParaRPr lang="en-US" sz="1275" dirty="0"/>
          </a:p>
        </p:txBody>
      </p:sp>
      <p:sp>
        <p:nvSpPr>
          <p:cNvPr id="16" name="Text 10"/>
          <p:cNvSpPr/>
          <p:nvPr/>
        </p:nvSpPr>
        <p:spPr>
          <a:xfrm>
            <a:off x="7869585" y="2914650"/>
            <a:ext cx="440829" cy="1809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</a:t>
            </a:r>
            <a:endParaRPr lang="en-US" sz="1275" dirty="0"/>
          </a:p>
        </p:txBody>
      </p:sp>
      <p:sp>
        <p:nvSpPr>
          <p:cNvPr id="17" name="Text 11"/>
          <p:cNvSpPr/>
          <p:nvPr/>
        </p:nvSpPr>
        <p:spPr>
          <a:xfrm>
            <a:off x="8400455" y="2914650"/>
            <a:ext cx="422821" cy="1809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width</a:t>
            </a:r>
            <a:endParaRPr lang="en-US" sz="1275" dirty="0"/>
          </a:p>
        </p:txBody>
      </p:sp>
      <p:sp>
        <p:nvSpPr>
          <p:cNvPr id="18" name="Text 12"/>
          <p:cNvSpPr/>
          <p:nvPr/>
        </p:nvSpPr>
        <p:spPr>
          <a:xfrm>
            <a:off x="9228534" y="2914650"/>
            <a:ext cx="755898" cy="1809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</a:t>
            </a:r>
            <a:endParaRPr lang="en-US" sz="1275" dirty="0"/>
          </a:p>
        </p:txBody>
      </p:sp>
      <p:sp>
        <p:nvSpPr>
          <p:cNvPr id="19" name="Text 13"/>
          <p:cNvSpPr/>
          <p:nvPr/>
        </p:nvSpPr>
        <p:spPr>
          <a:xfrm>
            <a:off x="971550" y="4648200"/>
            <a:ext cx="4781550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accuracy vs cost</a:t>
            </a:r>
            <a:endParaRPr lang="en-US" sz="1725" dirty="0"/>
          </a:p>
        </p:txBody>
      </p:sp>
      <p:sp>
        <p:nvSpPr>
          <p:cNvPr id="20" name="Text 14"/>
          <p:cNvSpPr/>
          <p:nvPr/>
        </p:nvSpPr>
        <p:spPr>
          <a:xfrm>
            <a:off x="971550" y="4981575"/>
            <a:ext cx="4781550" cy="485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MSE, MAE, max error, plus training and inference time and convergence stability.</a:t>
            </a:r>
            <a:endParaRPr lang="en-US" sz="1275" dirty="0"/>
          </a:p>
        </p:txBody>
      </p:sp>
      <p:sp>
        <p:nvSpPr>
          <p:cNvPr id="21" name="Text 15"/>
          <p:cNvSpPr/>
          <p:nvPr/>
        </p:nvSpPr>
        <p:spPr>
          <a:xfrm>
            <a:off x="6438900" y="4648200"/>
            <a:ext cx="4781550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vs literature</a:t>
            </a:r>
            <a:endParaRPr lang="en-US" sz="1725" dirty="0"/>
          </a:p>
        </p:txBody>
      </p:sp>
      <p:sp>
        <p:nvSpPr>
          <p:cNvPr id="22" name="Text 16"/>
          <p:cNvSpPr/>
          <p:nvPr/>
        </p:nvSpPr>
        <p:spPr>
          <a:xfrm>
            <a:off x="6438900" y="4981575"/>
            <a:ext cx="4781550" cy="485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the best plain ANN against PINN / DeepONet results from prior work.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2639" y="609600"/>
            <a:ext cx="91440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23900" y="857250"/>
            <a:ext cx="107442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Lorenz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51049" y="2624138"/>
            <a:ext cx="166985" cy="3143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497509" y="2624138"/>
            <a:ext cx="723156" cy="3143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−0.10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300139" y="2624138"/>
            <a:ext cx="365224" cy="3143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z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51049" y="3195638"/>
            <a:ext cx="166985" cy="3143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497509" y="3195638"/>
            <a:ext cx="723156" cy="3143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+1.60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300139" y="3195638"/>
            <a:ext cx="365224" cy="3143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z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51049" y="3767138"/>
            <a:ext cx="166985" cy="3143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497509" y="3767138"/>
            <a:ext cx="723156" cy="3143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−0.75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300139" y="3767138"/>
            <a:ext cx="365224" cy="3143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y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23900" y="4976813"/>
            <a:ext cx="4810869" cy="7715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coupled nonlinear ODEs — an early meteorological model. Compact, but a genuinely demanding benchmark for any solver.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" y="1714500"/>
            <a:ext cx="5276850" cy="3424833"/>
          </a:xfrm>
          <a:prstGeom prst="roundRect">
            <a:avLst>
              <a:gd name="adj" fmla="val 445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90500" dist="57150" dir="5400000">
              <a:srgbClr val="0c1226">
                <a:alpha val="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191250" y="1714500"/>
            <a:ext cx="5276850" cy="3424833"/>
          </a:xfrm>
          <a:prstGeom prst="roundRect">
            <a:avLst>
              <a:gd name="adj" fmla="val 445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90500" dist="57150" dir="5400000">
              <a:srgbClr val="0c1226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12639" y="609600"/>
            <a:ext cx="91440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23900" y="857250"/>
            <a:ext cx="107442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ANN vs Physics-Informed NN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42430" y="5234583"/>
            <a:ext cx="631775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ANN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953399" y="5234583"/>
            <a:ext cx="329357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71550" y="5796558"/>
            <a:ext cx="1055936" cy="219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scope:</a:t>
            </a:r>
            <a:endParaRPr lang="en-US" sz="15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2639" y="609600"/>
            <a:ext cx="91440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23900" y="857250"/>
            <a:ext cx="107442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field stands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23900" y="1714500"/>
            <a:ext cx="2578596" cy="438150"/>
          </a:xfrm>
          <a:prstGeom prst="rect">
            <a:avLst/>
          </a:prstGeom>
          <a:noFill/>
          <a:ln/>
        </p:spPr>
        <p:txBody>
          <a:bodyPr wrap="square" lIns="2117" tIns="1852" rIns="2117" bIns="1852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02496" y="1714500"/>
            <a:ext cx="4082653" cy="438150"/>
          </a:xfrm>
          <a:prstGeom prst="rect">
            <a:avLst/>
          </a:prstGeom>
          <a:noFill/>
          <a:ln/>
        </p:spPr>
        <p:txBody>
          <a:bodyPr wrap="square" lIns="2117" tIns="1852" rIns="2117" bIns="1852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85149" y="1714500"/>
            <a:ext cx="4082951" cy="438150"/>
          </a:xfrm>
          <a:prstGeom prst="rect">
            <a:avLst/>
          </a:prstGeom>
          <a:noFill/>
          <a:ln/>
        </p:spPr>
        <p:txBody>
          <a:bodyPr wrap="square" lIns="2117" tIns="1852" rIns="2117" bIns="1852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for our study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3900" y="2152650"/>
            <a:ext cx="2578596" cy="681930"/>
          </a:xfrm>
          <a:prstGeom prst="rect">
            <a:avLst/>
          </a:prstGeom>
          <a:noFill/>
          <a:ln/>
        </p:spPr>
        <p:txBody>
          <a:bodyPr wrap="square" lIns="2117" tIns="1588" rIns="2117" bIns="1588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Matthews &amp; BihloPinnDE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876300" y="2286000"/>
            <a:ext cx="1349425" cy="1809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Matthews &amp; Bihlo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876300" y="2531715"/>
            <a:ext cx="452140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PinnDE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02496" y="2152650"/>
            <a:ext cx="4082653" cy="681930"/>
          </a:xfrm>
          <a:prstGeom prst="rect">
            <a:avLst/>
          </a:prstGeom>
          <a:noFill/>
          <a:ln/>
        </p:spPr>
        <p:txBody>
          <a:bodyPr wrap="square" lIns="2117" tIns="1588" rIns="2117" bIns="1588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 + DeepONet on Lorenz-1960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7385149" y="2152650"/>
            <a:ext cx="4082951" cy="681930"/>
          </a:xfrm>
          <a:prstGeom prst="rect">
            <a:avLst/>
          </a:prstGeom>
          <a:noFill/>
          <a:ln/>
        </p:spPr>
        <p:txBody>
          <a:bodyPr wrap="square" lIns="2117" tIns="1588" rIns="2117" bIns="1588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architecture; relies on physics-informed loss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723900" y="2834580"/>
            <a:ext cx="2578596" cy="455265"/>
          </a:xfrm>
          <a:prstGeom prst="rect">
            <a:avLst/>
          </a:prstGeom>
          <a:noFill/>
          <a:ln/>
        </p:spPr>
        <p:txBody>
          <a:bodyPr wrap="square" lIns="2117" tIns="1588" rIns="2117" bIns="1588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Aslam et al.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876300" y="2967930"/>
            <a:ext cx="900113" cy="1809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Aslam et al.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3302496" y="2834580"/>
            <a:ext cx="4082653" cy="455265"/>
          </a:xfrm>
          <a:prstGeom prst="rect">
            <a:avLst/>
          </a:prstGeom>
          <a:noFill/>
          <a:ln/>
        </p:spPr>
        <p:txBody>
          <a:bodyPr wrap="square" lIns="2117" tIns="1588" rIns="2117" bIns="1588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 + PSO on a Lorenz variant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7385149" y="2834580"/>
            <a:ext cx="4082951" cy="455265"/>
          </a:xfrm>
          <a:prstGeom prst="rect">
            <a:avLst/>
          </a:prstGeom>
          <a:noFill/>
          <a:ln/>
        </p:spPr>
        <p:txBody>
          <a:bodyPr wrap="square" lIns="2117" tIns="1588" rIns="2117" bIns="1588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Optimises weights, not architecture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723900" y="3289846"/>
            <a:ext cx="2578596" cy="455265"/>
          </a:xfrm>
          <a:prstGeom prst="rect">
            <a:avLst/>
          </a:prstGeom>
          <a:noFill/>
          <a:ln/>
        </p:spPr>
        <p:txBody>
          <a:bodyPr wrap="square" lIns="2117" tIns="1588" rIns="2117" bIns="1588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Mall &amp; Chakraverty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876300" y="3423196"/>
            <a:ext cx="1458069" cy="1809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Mall &amp; Chakraverty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3302496" y="3289846"/>
            <a:ext cx="4082653" cy="455265"/>
          </a:xfrm>
          <a:prstGeom prst="rect">
            <a:avLst/>
          </a:prstGeom>
          <a:noFill/>
          <a:ln/>
        </p:spPr>
        <p:txBody>
          <a:bodyPr wrap="square" lIns="2117" tIns="1588" rIns="2117" bIns="1588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ANN, 4–6 nodes, sigmoid only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7385149" y="3289846"/>
            <a:ext cx="4082951" cy="455265"/>
          </a:xfrm>
          <a:prstGeom prst="rect">
            <a:avLst/>
          </a:prstGeom>
          <a:noFill/>
          <a:ln/>
        </p:spPr>
        <p:txBody>
          <a:bodyPr wrap="square" lIns="2117" tIns="1588" rIns="2117" bIns="1588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ODEs; no depth / activation sweep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723900" y="3745111"/>
            <a:ext cx="2578596" cy="681930"/>
          </a:xfrm>
          <a:prstGeom prst="rect">
            <a:avLst/>
          </a:prstGeom>
          <a:noFill/>
          <a:ln/>
        </p:spPr>
        <p:txBody>
          <a:bodyPr wrap="square" lIns="2117" tIns="1588" rIns="2117" bIns="1588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 &amp; WerthODEN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876300" y="3878461"/>
            <a:ext cx="950714" cy="1809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 &amp; Werth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876300" y="4124176"/>
            <a:ext cx="385316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02496" y="3745111"/>
            <a:ext cx="4082653" cy="681930"/>
          </a:xfrm>
          <a:prstGeom prst="rect">
            <a:avLst/>
          </a:prstGeom>
          <a:noFill/>
          <a:ln/>
        </p:spPr>
        <p:txBody>
          <a:bodyPr wrap="square" lIns="2117" tIns="1588" rIns="2117" bIns="1588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ANN; tanh/sigmoid beat ReLU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7385149" y="3745111"/>
            <a:ext cx="4082951" cy="681930"/>
          </a:xfrm>
          <a:prstGeom prst="rect">
            <a:avLst/>
          </a:prstGeom>
          <a:noFill/>
          <a:ln/>
        </p:spPr>
        <p:txBody>
          <a:bodyPr wrap="square" lIns="2117" tIns="1588" rIns="2117" bIns="1588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systematic depth–width study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723900" y="4427041"/>
            <a:ext cx="2578596" cy="455265"/>
          </a:xfrm>
          <a:prstGeom prst="rect">
            <a:avLst/>
          </a:prstGeom>
          <a:noFill/>
          <a:ln/>
        </p:spPr>
        <p:txBody>
          <a:bodyPr wrap="square" lIns="2117" tIns="1588" rIns="2117" bIns="1588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Dubey / Audu et al.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876300" y="4560391"/>
            <a:ext cx="1451521" cy="1809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Dubey / Audu et al.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3302496" y="4427041"/>
            <a:ext cx="4082653" cy="455265"/>
          </a:xfrm>
          <a:prstGeom prst="rect">
            <a:avLst/>
          </a:prstGeom>
          <a:noFill/>
          <a:ln/>
        </p:spPr>
        <p:txBody>
          <a:bodyPr wrap="square" lIns="2117" tIns="1588" rIns="2117" bIns="1588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ANN on first-order ODEs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7385149" y="4427041"/>
            <a:ext cx="4082951" cy="455265"/>
          </a:xfrm>
          <a:prstGeom prst="rect">
            <a:avLst/>
          </a:prstGeom>
          <a:noFill/>
          <a:ln/>
        </p:spPr>
        <p:txBody>
          <a:bodyPr wrap="square" lIns="2117" tIns="1588" rIns="2117" bIns="1588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nets; not coupled, not Lorenz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723900" y="4882307"/>
            <a:ext cx="2578596" cy="455265"/>
          </a:xfrm>
          <a:prstGeom prst="rect">
            <a:avLst/>
          </a:prstGeom>
          <a:noFill/>
          <a:ln/>
        </p:spPr>
        <p:txBody>
          <a:bodyPr wrap="square" lIns="2117" tIns="1588" rIns="2117" bIns="1588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work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3302496" y="4882307"/>
            <a:ext cx="4082653" cy="455265"/>
          </a:xfrm>
          <a:prstGeom prst="rect">
            <a:avLst/>
          </a:prstGeom>
          <a:noFill/>
          <a:ln/>
        </p:spPr>
        <p:txBody>
          <a:bodyPr wrap="square" lIns="2117" tIns="1588" rIns="2117" bIns="1588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ANN, systematic search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7385149" y="4882307"/>
            <a:ext cx="4082951" cy="455265"/>
          </a:xfrm>
          <a:prstGeom prst="rect">
            <a:avLst/>
          </a:prstGeom>
          <a:noFill/>
          <a:ln/>
        </p:spPr>
        <p:txBody>
          <a:bodyPr wrap="square" lIns="2117" tIns="1588" rIns="2117" bIns="1588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× width × activation on Lorenz-1960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/University/FYDP/resources/defense/web/.build_tmp/svg_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200275"/>
            <a:ext cx="228600" cy="228600"/>
          </a:xfrm>
          <a:prstGeom prst="rect">
            <a:avLst/>
          </a:prstGeom>
        </p:spPr>
      </p:pic>
      <p:pic>
        <p:nvPicPr>
          <p:cNvPr id="3" name="Image 1" descr="E:/University/FYDP/resources/defense/web/.build_tmp/svg_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675" y="2200275"/>
            <a:ext cx="228600" cy="228600"/>
          </a:xfrm>
          <a:prstGeom prst="rect">
            <a:avLst/>
          </a:prstGeom>
        </p:spPr>
      </p:pic>
      <p:pic>
        <p:nvPicPr>
          <p:cNvPr id="4" name="Image 2" descr="E:/University/FYDP/resources/defense/web/.build_tmp/svg_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" y="4562475"/>
            <a:ext cx="228600" cy="228600"/>
          </a:xfrm>
          <a:prstGeom prst="rect">
            <a:avLst/>
          </a:prstGeom>
        </p:spPr>
      </p:pic>
      <p:pic>
        <p:nvPicPr>
          <p:cNvPr id="5" name="Image 3" descr="E:/University/FYDP/resources/defense/web/.build_tmp/svg_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675" y="4562475"/>
            <a:ext cx="228600" cy="2286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971550" y="20955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3552D8">
              <a:alpha val="12000"/>
            </a:srgbClr>
          </a:solidFill>
          <a:ln w="9525">
            <a:solidFill>
              <a:srgbClr val="3552D8"/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6438900" y="20955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2622E">
              <a:alpha val="12000"/>
            </a:srgbClr>
          </a:solidFill>
          <a:ln w="9525">
            <a:solidFill>
              <a:srgbClr val="F2622E"/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971550" y="44577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0E9E8E">
              <a:alpha val="12000"/>
            </a:srgbClr>
          </a:solidFill>
          <a:ln w="9525">
            <a:solidFill>
              <a:srgbClr val="0E9E8E"/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6438900" y="44577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2622E">
              <a:alpha val="12000"/>
            </a:srgbClr>
          </a:solidFill>
          <a:ln w="9525">
            <a:solidFill>
              <a:srgbClr val="F2622E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1112639" y="609600"/>
            <a:ext cx="91440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723900" y="857250"/>
            <a:ext cx="107442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we fill</a:t>
            </a:r>
            <a:endParaRPr lang="en-US" sz="3000" dirty="0"/>
          </a:p>
        </p:txBody>
      </p:sp>
      <p:sp>
        <p:nvSpPr>
          <p:cNvPr id="12" name="Text 6"/>
          <p:cNvSpPr/>
          <p:nvPr/>
        </p:nvSpPr>
        <p:spPr>
          <a:xfrm>
            <a:off x="971550" y="2686050"/>
            <a:ext cx="4781550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architecture study</a:t>
            </a:r>
            <a:endParaRPr lang="en-US" sz="1725" dirty="0"/>
          </a:p>
        </p:txBody>
      </p:sp>
      <p:sp>
        <p:nvSpPr>
          <p:cNvPr id="13" name="Text 7"/>
          <p:cNvSpPr/>
          <p:nvPr/>
        </p:nvSpPr>
        <p:spPr>
          <a:xfrm>
            <a:off x="971550" y="3019425"/>
            <a:ext cx="4781550" cy="485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Lorenz system has no systematic depth–width sweep for a plain ANN.</a:t>
            </a:r>
            <a:endParaRPr lang="en-US" sz="1275" dirty="0"/>
          </a:p>
        </p:txBody>
      </p:sp>
      <p:sp>
        <p:nvSpPr>
          <p:cNvPr id="14" name="Text 8"/>
          <p:cNvSpPr/>
          <p:nvPr/>
        </p:nvSpPr>
        <p:spPr>
          <a:xfrm>
            <a:off x="6438900" y="2686050"/>
            <a:ext cx="4781550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PINN vs plain-ANN</a:t>
            </a:r>
            <a:endParaRPr lang="en-US" sz="1725" dirty="0"/>
          </a:p>
        </p:txBody>
      </p:sp>
      <p:sp>
        <p:nvSpPr>
          <p:cNvPr id="15" name="Text 9"/>
          <p:cNvSpPr/>
          <p:nvPr/>
        </p:nvSpPr>
        <p:spPr>
          <a:xfrm>
            <a:off x="6438900" y="3019425"/>
            <a:ext cx="4781550" cy="485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Physics-informed and data-only nets are not compared on the same problem.</a:t>
            </a:r>
            <a:endParaRPr lang="en-US" sz="1275" dirty="0"/>
          </a:p>
        </p:txBody>
      </p:sp>
      <p:sp>
        <p:nvSpPr>
          <p:cNvPr id="16" name="Text 10"/>
          <p:cNvSpPr/>
          <p:nvPr/>
        </p:nvSpPr>
        <p:spPr>
          <a:xfrm>
            <a:off x="971550" y="5048250"/>
            <a:ext cx="4781550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activation study</a:t>
            </a:r>
            <a:endParaRPr lang="en-US" sz="1725" dirty="0"/>
          </a:p>
        </p:txBody>
      </p:sp>
      <p:sp>
        <p:nvSpPr>
          <p:cNvPr id="17" name="Text 11"/>
          <p:cNvSpPr/>
          <p:nvPr/>
        </p:nvSpPr>
        <p:spPr>
          <a:xfrm>
            <a:off x="971550" y="5381625"/>
            <a:ext cx="4781550" cy="485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choice is rarely treated as a controlled variable on coupled ODEs.</a:t>
            </a:r>
            <a:endParaRPr lang="en-US" sz="1275" dirty="0"/>
          </a:p>
        </p:txBody>
      </p:sp>
      <p:sp>
        <p:nvSpPr>
          <p:cNvPr id="18" name="Text 12"/>
          <p:cNvSpPr/>
          <p:nvPr/>
        </p:nvSpPr>
        <p:spPr>
          <a:xfrm>
            <a:off x="6438900" y="5048250"/>
            <a:ext cx="4781550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&amp; width fixed</a:t>
            </a:r>
            <a:endParaRPr lang="en-US" sz="1725" dirty="0"/>
          </a:p>
        </p:txBody>
      </p:sp>
      <p:sp>
        <p:nvSpPr>
          <p:cNvPr id="19" name="Text 13"/>
          <p:cNvSpPr/>
          <p:nvPr/>
        </p:nvSpPr>
        <p:spPr>
          <a:xfrm>
            <a:off x="6438900" y="5381625"/>
            <a:ext cx="4781550" cy="485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work varies one factor at a time — never depth and width together.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2639" y="609600"/>
            <a:ext cx="91440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23900" y="857250"/>
            <a:ext cx="107442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ask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1550" y="3288506"/>
            <a:ext cx="798612" cy="4476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71550" y="3831431"/>
            <a:ext cx="2959001" cy="8143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plain ANN learn the solution from numerical data alone — no physics in the loss?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504801" y="3860006"/>
            <a:ext cx="857994" cy="20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ANN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4616351" y="3288506"/>
            <a:ext cx="798612" cy="4476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4616351" y="3831431"/>
            <a:ext cx="2959150" cy="8143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depth × width × activation gives the best accuracy–cost trade-off?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169545" y="3860006"/>
            <a:ext cx="2222302" cy="20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× width × activation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8261300" y="3288506"/>
            <a:ext cx="798612" cy="4476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8261300" y="3831431"/>
            <a:ext cx="2959001" cy="8143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close does the best plain ANN come to physics-informed baselines?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8955435" y="4131469"/>
            <a:ext cx="1508522" cy="20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physics-informed</a:t>
            </a:r>
            <a:endParaRPr lang="en-US" sz="14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1550" y="3057525"/>
            <a:ext cx="4781550" cy="409575"/>
          </a:xfrm>
          <a:prstGeom prst="roundRect">
            <a:avLst>
              <a:gd name="adj" fmla="val 2323256"/>
            </a:avLst>
          </a:prstGeom>
          <a:solidFill>
            <a:srgbClr val="5B8CFF">
              <a:alpha val="16000"/>
            </a:srgbClr>
          </a:solidFill>
          <a:ln w="9525">
            <a:solidFill>
              <a:srgbClr val="5B8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38900" y="3036094"/>
            <a:ext cx="4781550" cy="409575"/>
          </a:xfrm>
          <a:prstGeom prst="roundRect">
            <a:avLst>
              <a:gd name="adj" fmla="val 2323256"/>
            </a:avLst>
          </a:prstGeom>
          <a:solidFill>
            <a:srgbClr val="1FC8AC">
              <a:alpha val="14000"/>
            </a:srgbClr>
          </a:solidFill>
          <a:ln w="9525">
            <a:solidFill>
              <a:srgbClr val="1FC8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2639" y="609600"/>
            <a:ext cx="91440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23900" y="857250"/>
            <a:ext cx="107442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two-phase comparative study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71550" y="1962150"/>
            <a:ext cx="4781550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Architecture search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971550" y="1962150"/>
            <a:ext cx="812899" cy="247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971550" y="2333625"/>
            <a:ext cx="819745" cy="257175"/>
          </a:xfrm>
          <a:prstGeom prst="rect">
            <a:avLst/>
          </a:prstGeom>
          <a:noFill/>
          <a:ln/>
        </p:spPr>
        <p:txBody>
          <a:bodyPr wrap="square" lIns="1720" tIns="794" rIns="1720" bIns="794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1–4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1867495" y="2333625"/>
            <a:ext cx="1312813" cy="257175"/>
          </a:xfrm>
          <a:prstGeom prst="rect">
            <a:avLst/>
          </a:prstGeom>
          <a:noFill/>
          <a:ln/>
        </p:spPr>
        <p:txBody>
          <a:bodyPr wrap="square" lIns="1720" tIns="794" rIns="1720" bIns="794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width 20 · 50 · 100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971550" y="2647950"/>
            <a:ext cx="497979" cy="257175"/>
          </a:xfrm>
          <a:prstGeom prst="rect">
            <a:avLst/>
          </a:prstGeom>
          <a:noFill/>
          <a:ln/>
        </p:spPr>
        <p:txBody>
          <a:bodyPr wrap="square" lIns="1720" tIns="794" rIns="1720" bIns="794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tanh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1545729" y="2647950"/>
            <a:ext cx="576411" cy="257175"/>
          </a:xfrm>
          <a:prstGeom prst="rect">
            <a:avLst/>
          </a:prstGeom>
          <a:noFill/>
          <a:ln/>
        </p:spPr>
        <p:txBody>
          <a:bodyPr wrap="square" lIns="1720" tIns="794" rIns="1720" bIns="794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2198340" y="2647950"/>
            <a:ext cx="690860" cy="257175"/>
          </a:xfrm>
          <a:prstGeom prst="rect">
            <a:avLst/>
          </a:prstGeom>
          <a:noFill/>
          <a:ln/>
        </p:spPr>
        <p:txBody>
          <a:bodyPr wrap="square" lIns="1720" tIns="794" rIns="1720" bIns="794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sigmoid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2965400" y="2647950"/>
            <a:ext cx="597843" cy="257175"/>
          </a:xfrm>
          <a:prstGeom prst="rect">
            <a:avLst/>
          </a:prstGeom>
          <a:noFill/>
          <a:ln/>
        </p:spPr>
        <p:txBody>
          <a:bodyPr wrap="square" lIns="1720" tIns="794" rIns="1720" bIns="794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GELU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3639443" y="2647950"/>
            <a:ext cx="590699" cy="257175"/>
          </a:xfrm>
          <a:prstGeom prst="rect">
            <a:avLst/>
          </a:prstGeom>
          <a:noFill/>
          <a:ln/>
        </p:spPr>
        <p:txBody>
          <a:bodyPr wrap="square" lIns="1720" tIns="794" rIns="1720" bIns="794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Swish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6438900" y="1983581"/>
            <a:ext cx="4781550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Optimizer comparison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6438900" y="1983581"/>
            <a:ext cx="812899" cy="247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6438900" y="2355056"/>
            <a:ext cx="876746" cy="257175"/>
          </a:xfrm>
          <a:prstGeom prst="rect">
            <a:avLst/>
          </a:prstGeom>
          <a:noFill/>
          <a:ln/>
        </p:spPr>
        <p:txBody>
          <a:bodyPr wrap="square" lIns="1720" tIns="794" rIns="1720" bIns="794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best nets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7391846" y="2355056"/>
            <a:ext cx="583704" cy="257175"/>
          </a:xfrm>
          <a:prstGeom prst="rect">
            <a:avLst/>
          </a:prstGeom>
          <a:noFill/>
          <a:ln/>
        </p:spPr>
        <p:txBody>
          <a:bodyPr wrap="square" lIns="1720" tIns="794" rIns="1720" bIns="794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</a:t>
            </a:r>
            <a:endParaRPr lang="en-US" sz="1013" dirty="0"/>
          </a:p>
        </p:txBody>
      </p:sp>
      <p:sp>
        <p:nvSpPr>
          <p:cNvPr id="19" name="Text 17"/>
          <p:cNvSpPr/>
          <p:nvPr/>
        </p:nvSpPr>
        <p:spPr>
          <a:xfrm>
            <a:off x="8051750" y="2355056"/>
            <a:ext cx="712143" cy="257175"/>
          </a:xfrm>
          <a:prstGeom prst="rect">
            <a:avLst/>
          </a:prstGeom>
          <a:noFill/>
          <a:ln/>
        </p:spPr>
        <p:txBody>
          <a:bodyPr wrap="square" lIns="1720" tIns="794" rIns="1720" bIns="794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L-BFGS</a:t>
            </a:r>
            <a:endParaRPr lang="en-US" sz="1013" dirty="0"/>
          </a:p>
        </p:txBody>
      </p:sp>
      <p:sp>
        <p:nvSpPr>
          <p:cNvPr id="20" name="Text 18"/>
          <p:cNvSpPr/>
          <p:nvPr/>
        </p:nvSpPr>
        <p:spPr>
          <a:xfrm>
            <a:off x="8840093" y="2355056"/>
            <a:ext cx="1316087" cy="257175"/>
          </a:xfrm>
          <a:prstGeom prst="rect">
            <a:avLst/>
          </a:prstGeom>
          <a:noFill/>
          <a:ln/>
        </p:spPr>
        <p:txBody>
          <a:bodyPr wrap="square" lIns="1720" tIns="794" rIns="1720" bIns="794" rtlCol="0" anchor="t"/>
          <a:lstStyle/>
          <a:p>
            <a:pPr algn="l" indent="0" marL="0">
              <a:buNone/>
            </a:pPr>
            <a:r>
              <a:rPr lang="en-US" sz="101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SGD + momentum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6438900" y="2688431"/>
            <a:ext cx="4781550" cy="2143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held constant — only the optimizer changes.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971550" y="4205288"/>
            <a:ext cx="1000423" cy="409575"/>
          </a:xfrm>
          <a:prstGeom prst="rect">
            <a:avLst/>
          </a:prstGeom>
          <a:noFill/>
          <a:ln/>
        </p:spPr>
        <p:txBody>
          <a:bodyPr wrap="square" lIns="2646" tIns="1323" rIns="2646" bIns="1323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total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067223" y="4300538"/>
            <a:ext cx="190500" cy="219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16859" y="4300538"/>
            <a:ext cx="190500" cy="219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766643" y="4300538"/>
            <a:ext cx="190500" cy="219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616279" y="4300538"/>
            <a:ext cx="190500" cy="219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66064" y="4300538"/>
            <a:ext cx="190500" cy="219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2639" y="609600"/>
            <a:ext cx="91440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23900" y="857250"/>
            <a:ext cx="107442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reference we can defend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1550" y="3242965"/>
            <a:ext cx="3949452" cy="510778"/>
          </a:xfrm>
          <a:prstGeom prst="rect">
            <a:avLst/>
          </a:prstGeom>
          <a:noFill/>
          <a:ln/>
        </p:spPr>
        <p:txBody>
          <a:bodyPr wrap="square" lIns="2910" tIns="0" rIns="0" bIns="0" rtlCol="0" anchor="t"/>
          <a:lstStyle/>
          <a:p>
            <a:pPr algn="l" indent="0" marL="0">
              <a:lnSpc>
                <a:spcPts val="2012"/>
              </a:lnSpc>
              <a:buNone/>
            </a:pPr>
            <a:r>
              <a:rPr lang="en-US" sz="13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RK4 integrator — h = 10⁻³, 1001 uniform points</a:t>
            </a:r>
            <a:endParaRPr lang="en-US" sz="1388" dirty="0"/>
          </a:p>
        </p:txBody>
      </p:sp>
      <p:sp>
        <p:nvSpPr>
          <p:cNvPr id="5" name="Text 3"/>
          <p:cNvSpPr/>
          <p:nvPr/>
        </p:nvSpPr>
        <p:spPr>
          <a:xfrm>
            <a:off x="1837283" y="3262015"/>
            <a:ext cx="352574" cy="20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12"/>
              </a:lnSpc>
              <a:buNone/>
            </a:pPr>
            <a:r>
              <a:rPr lang="en-US" sz="138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RK4</a:t>
            </a:r>
            <a:endParaRPr lang="en-US" sz="1388" dirty="0"/>
          </a:p>
        </p:txBody>
      </p:sp>
      <p:sp>
        <p:nvSpPr>
          <p:cNvPr id="6" name="Text 4"/>
          <p:cNvSpPr/>
          <p:nvPr/>
        </p:nvSpPr>
        <p:spPr>
          <a:xfrm>
            <a:off x="971550" y="3820418"/>
            <a:ext cx="3949452" cy="255389"/>
          </a:xfrm>
          <a:prstGeom prst="rect">
            <a:avLst/>
          </a:prstGeom>
          <a:noFill/>
          <a:ln/>
        </p:spPr>
        <p:txBody>
          <a:bodyPr wrap="square" lIns="2910" tIns="0" rIns="0" bIns="0" rtlCol="0" anchor="t"/>
          <a:lstStyle/>
          <a:p>
            <a:pPr algn="l" indent="0" marL="0">
              <a:lnSpc>
                <a:spcPts val="2012"/>
              </a:lnSpc>
              <a:buNone/>
            </a:pPr>
            <a:r>
              <a:rPr lang="en-US" sz="13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SciPy DOP853 — rtol = 10⁻¹⁰, atol = 10⁻¹²</a:t>
            </a:r>
            <a:endParaRPr lang="en-US" sz="1388" dirty="0"/>
          </a:p>
        </p:txBody>
      </p:sp>
      <p:sp>
        <p:nvSpPr>
          <p:cNvPr id="7" name="Text 5"/>
          <p:cNvSpPr/>
          <p:nvPr/>
        </p:nvSpPr>
        <p:spPr>
          <a:xfrm>
            <a:off x="1181100" y="3839468"/>
            <a:ext cx="1204913" cy="20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12"/>
              </a:lnSpc>
              <a:buNone/>
            </a:pPr>
            <a:r>
              <a:rPr lang="en-US" sz="138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SciPy DOP853</a:t>
            </a:r>
            <a:endParaRPr lang="en-US" sz="1388" dirty="0"/>
          </a:p>
        </p:txBody>
      </p:sp>
      <p:sp>
        <p:nvSpPr>
          <p:cNvPr id="8" name="Text 6"/>
          <p:cNvSpPr/>
          <p:nvPr/>
        </p:nvSpPr>
        <p:spPr>
          <a:xfrm>
            <a:off x="971550" y="4142482"/>
            <a:ext cx="3949452" cy="255389"/>
          </a:xfrm>
          <a:prstGeom prst="rect">
            <a:avLst/>
          </a:prstGeom>
          <a:noFill/>
          <a:ln/>
        </p:spPr>
        <p:txBody>
          <a:bodyPr wrap="square" lIns="2910" tIns="0" rIns="0" bIns="0" rtlCol="0" anchor="t"/>
          <a:lstStyle/>
          <a:p>
            <a:pPr algn="l" indent="0" marL="0">
              <a:lnSpc>
                <a:spcPts val="2012"/>
              </a:lnSpc>
              <a:buNone/>
            </a:pPr>
            <a:r>
              <a:rPr lang="en-US" sz="13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/ 20 train–validation split, fixed seed 42</a:t>
            </a:r>
            <a:endParaRPr lang="en-US" sz="1388" dirty="0"/>
          </a:p>
        </p:txBody>
      </p:sp>
      <p:sp>
        <p:nvSpPr>
          <p:cNvPr id="9" name="Text 7"/>
          <p:cNvSpPr/>
          <p:nvPr/>
        </p:nvSpPr>
        <p:spPr>
          <a:xfrm>
            <a:off x="971550" y="4464546"/>
            <a:ext cx="3949452" cy="255389"/>
          </a:xfrm>
          <a:prstGeom prst="rect">
            <a:avLst/>
          </a:prstGeom>
          <a:noFill/>
          <a:ln/>
        </p:spPr>
        <p:txBody>
          <a:bodyPr wrap="square" lIns="2910" tIns="0" rIns="0" bIns="0" rtlCol="0" anchor="t"/>
          <a:lstStyle/>
          <a:p>
            <a:pPr algn="l" indent="0" marL="0">
              <a:lnSpc>
                <a:spcPts val="2012"/>
              </a:lnSpc>
              <a:buNone/>
            </a:pPr>
            <a:r>
              <a:rPr lang="en-US" sz="13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reported in original physical units</a:t>
            </a:r>
            <a:endParaRPr lang="en-US" sz="1388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2639" y="609600"/>
            <a:ext cx="91440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23900" y="857250"/>
            <a:ext cx="107442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baseline is verified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31931" y="4384477"/>
            <a:ext cx="3350419" cy="4417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defensible ground truth for every ANN trained in FYDP-II.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704659" y="4413052"/>
            <a:ext cx="914102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2639" y="609600"/>
            <a:ext cx="91440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23900" y="857250"/>
            <a:ext cx="107442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517702" y="1962150"/>
            <a:ext cx="501848" cy="247650"/>
          </a:xfrm>
          <a:prstGeom prst="rect">
            <a:avLst/>
          </a:prstGeom>
          <a:noFill/>
          <a:ln/>
        </p:spPr>
        <p:txBody>
          <a:bodyPr wrap="square" lIns="1455" tIns="661" rIns="1455" bIns="661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33450" y="2200275"/>
            <a:ext cx="3048000" cy="247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33450" y="2543175"/>
            <a:ext cx="3048000" cy="4417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Problem, 17-paper review, requirements, and a verified dual-solver baseline.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94352" y="1962150"/>
            <a:ext cx="463748" cy="247650"/>
          </a:xfrm>
          <a:prstGeom prst="rect">
            <a:avLst/>
          </a:prstGeom>
          <a:noFill/>
          <a:ln/>
        </p:spPr>
        <p:txBody>
          <a:bodyPr wrap="square" lIns="1455" tIns="661" rIns="1455" bIns="661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0" y="2200275"/>
            <a:ext cx="3048000" cy="247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572000" y="2543175"/>
            <a:ext cx="3048000" cy="4417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pipeline, Phase-1 (60) then Phase-2 (9) runs, metrics &amp; plots.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67554" y="1962150"/>
            <a:ext cx="629096" cy="228600"/>
          </a:xfrm>
          <a:prstGeom prst="rect">
            <a:avLst/>
          </a:prstGeom>
          <a:noFill/>
          <a:ln/>
        </p:spPr>
        <p:txBody>
          <a:bodyPr wrap="square" lIns="1455" tIns="661" rIns="1455" bIns="661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10550" y="2200275"/>
            <a:ext cx="3048000" cy="247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210550" y="2543175"/>
            <a:ext cx="3048000" cy="4417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Reproducibility, comparative analysis, final report &amp; defense.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71550" y="3927872"/>
            <a:ext cx="4781550" cy="255389"/>
          </a:xfrm>
          <a:prstGeom prst="rect">
            <a:avLst/>
          </a:prstGeom>
          <a:noFill/>
          <a:ln/>
        </p:spPr>
        <p:txBody>
          <a:bodyPr wrap="square" lIns="2910" tIns="0" rIns="0" bIns="0" rtlCol="0" anchor="t"/>
          <a:lstStyle/>
          <a:p>
            <a:pPr algn="l" indent="0" marL="0">
              <a:lnSpc>
                <a:spcPts val="2012"/>
              </a:lnSpc>
              <a:buNone/>
            </a:pPr>
            <a:r>
              <a:rPr lang="en-US" sz="13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ANN training / evaluation pipeline</a:t>
            </a:r>
            <a:endParaRPr lang="en-US" sz="1388" dirty="0"/>
          </a:p>
        </p:txBody>
      </p:sp>
      <p:sp>
        <p:nvSpPr>
          <p:cNvPr id="14" name="Text 12"/>
          <p:cNvSpPr/>
          <p:nvPr/>
        </p:nvSpPr>
        <p:spPr>
          <a:xfrm>
            <a:off x="971550" y="4249936"/>
            <a:ext cx="4781550" cy="255389"/>
          </a:xfrm>
          <a:prstGeom prst="rect">
            <a:avLst/>
          </a:prstGeom>
          <a:noFill/>
          <a:ln/>
        </p:spPr>
        <p:txBody>
          <a:bodyPr wrap="square" lIns="2910" tIns="0" rIns="0" bIns="0" rtlCol="0" anchor="t"/>
          <a:lstStyle/>
          <a:p>
            <a:pPr algn="l" indent="0" marL="0">
              <a:lnSpc>
                <a:spcPts val="2012"/>
              </a:lnSpc>
              <a:buNone/>
            </a:pPr>
            <a:r>
              <a:rPr lang="en-US" sz="13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60 Phase-1 architectures</a:t>
            </a:r>
            <a:endParaRPr lang="en-US" sz="1388" dirty="0"/>
          </a:p>
        </p:txBody>
      </p:sp>
      <p:sp>
        <p:nvSpPr>
          <p:cNvPr id="15" name="Text 13"/>
          <p:cNvSpPr/>
          <p:nvPr/>
        </p:nvSpPr>
        <p:spPr>
          <a:xfrm>
            <a:off x="971550" y="4572000"/>
            <a:ext cx="4781550" cy="255389"/>
          </a:xfrm>
          <a:prstGeom prst="rect">
            <a:avLst/>
          </a:prstGeom>
          <a:noFill/>
          <a:ln/>
        </p:spPr>
        <p:txBody>
          <a:bodyPr wrap="square" lIns="2910" tIns="0" rIns="0" bIns="0" rtlCol="0" anchor="t"/>
          <a:lstStyle/>
          <a:p>
            <a:pPr algn="l" indent="0" marL="0">
              <a:lnSpc>
                <a:spcPts val="2012"/>
              </a:lnSpc>
              <a:buNone/>
            </a:pPr>
            <a:r>
              <a:rPr lang="en-US" sz="13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3 best for Phase-2</a:t>
            </a:r>
            <a:endParaRPr lang="en-US" sz="1388" dirty="0"/>
          </a:p>
        </p:txBody>
      </p:sp>
      <p:sp>
        <p:nvSpPr>
          <p:cNvPr id="16" name="Text 14"/>
          <p:cNvSpPr/>
          <p:nvPr/>
        </p:nvSpPr>
        <p:spPr>
          <a:xfrm>
            <a:off x="6438900" y="3927872"/>
            <a:ext cx="4781550" cy="255389"/>
          </a:xfrm>
          <a:prstGeom prst="rect">
            <a:avLst/>
          </a:prstGeom>
          <a:noFill/>
          <a:ln/>
        </p:spPr>
        <p:txBody>
          <a:bodyPr wrap="square" lIns="2910" tIns="0" rIns="0" bIns="0" rtlCol="0" anchor="t"/>
          <a:lstStyle/>
          <a:p>
            <a:pPr algn="l" indent="0" marL="0">
              <a:lnSpc>
                <a:spcPts val="2012"/>
              </a:lnSpc>
              <a:buNone/>
            </a:pPr>
            <a:r>
              <a:rPr lang="en-US" sz="13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seeds for stability</a:t>
            </a:r>
            <a:endParaRPr lang="en-US" sz="1388" dirty="0"/>
          </a:p>
        </p:txBody>
      </p:sp>
      <p:sp>
        <p:nvSpPr>
          <p:cNvPr id="17" name="Text 15"/>
          <p:cNvSpPr/>
          <p:nvPr/>
        </p:nvSpPr>
        <p:spPr>
          <a:xfrm>
            <a:off x="6438900" y="4249936"/>
            <a:ext cx="4781550" cy="255389"/>
          </a:xfrm>
          <a:prstGeom prst="rect">
            <a:avLst/>
          </a:prstGeom>
          <a:noFill/>
          <a:ln/>
        </p:spPr>
        <p:txBody>
          <a:bodyPr wrap="square" lIns="2910" tIns="0" rIns="0" bIns="0" rtlCol="0" anchor="t"/>
          <a:lstStyle/>
          <a:p>
            <a:pPr algn="l" indent="0" marL="0">
              <a:lnSpc>
                <a:spcPts val="2012"/>
              </a:lnSpc>
              <a:buNone/>
            </a:pPr>
            <a:r>
              <a:rPr lang="en-US" sz="13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Denser grids &amp; new initial conditions</a:t>
            </a:r>
            <a:endParaRPr lang="en-US" sz="1388" dirty="0"/>
          </a:p>
        </p:txBody>
      </p:sp>
      <p:sp>
        <p:nvSpPr>
          <p:cNvPr id="18" name="Text 16"/>
          <p:cNvSpPr/>
          <p:nvPr/>
        </p:nvSpPr>
        <p:spPr>
          <a:xfrm>
            <a:off x="6438900" y="4572000"/>
            <a:ext cx="4781550" cy="255389"/>
          </a:xfrm>
          <a:prstGeom prst="rect">
            <a:avLst/>
          </a:prstGeom>
          <a:noFill/>
          <a:ln/>
        </p:spPr>
        <p:txBody>
          <a:bodyPr wrap="square" lIns="2910" tIns="0" rIns="0" bIns="0" rtlCol="0" anchor="t"/>
          <a:lstStyle/>
          <a:p>
            <a:pPr algn="l" indent="0" marL="0">
              <a:lnSpc>
                <a:spcPts val="2012"/>
              </a:lnSpc>
              <a:buNone/>
            </a:pPr>
            <a:r>
              <a:rPr lang="en-US" sz="13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comparison with PINN baselines</a:t>
            </a:r>
            <a:endParaRPr lang="en-US" sz="1388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2639" y="609600"/>
            <a:ext cx="91440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23900" y="857250"/>
            <a:ext cx="107442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stand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71550" y="2276475"/>
            <a:ext cx="4752975" cy="255389"/>
          </a:xfrm>
          <a:prstGeom prst="rect">
            <a:avLst/>
          </a:prstGeom>
          <a:noFill/>
          <a:ln/>
        </p:spPr>
        <p:txBody>
          <a:bodyPr wrap="square" lIns="2910" tIns="0" rIns="0" bIns="0" rtlCol="0" anchor="t"/>
          <a:lstStyle/>
          <a:p>
            <a:pPr algn="l" indent="0" marL="0">
              <a:lnSpc>
                <a:spcPts val="2012"/>
              </a:lnSpc>
              <a:buNone/>
            </a:pPr>
            <a:r>
              <a:rPr lang="en-US" sz="13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clear, narrow research question</a:t>
            </a:r>
            <a:endParaRPr lang="en-US" sz="1388" dirty="0"/>
          </a:p>
        </p:txBody>
      </p:sp>
      <p:sp>
        <p:nvSpPr>
          <p:cNvPr id="5" name="Text 3"/>
          <p:cNvSpPr/>
          <p:nvPr/>
        </p:nvSpPr>
        <p:spPr>
          <a:xfrm>
            <a:off x="971550" y="2598539"/>
            <a:ext cx="4752975" cy="255389"/>
          </a:xfrm>
          <a:prstGeom prst="rect">
            <a:avLst/>
          </a:prstGeom>
          <a:noFill/>
          <a:ln/>
        </p:spPr>
        <p:txBody>
          <a:bodyPr wrap="square" lIns="2910" tIns="0" rIns="0" bIns="0" rtlCol="0" anchor="t"/>
          <a:lstStyle/>
          <a:p>
            <a:pPr algn="l" indent="0" marL="0">
              <a:lnSpc>
                <a:spcPts val="2012"/>
              </a:lnSpc>
              <a:buNone/>
            </a:pPr>
            <a:r>
              <a:rPr lang="en-US" sz="13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17-paper review with an explicit gap</a:t>
            </a:r>
            <a:endParaRPr lang="en-US" sz="1388" dirty="0"/>
          </a:p>
        </p:txBody>
      </p:sp>
      <p:sp>
        <p:nvSpPr>
          <p:cNvPr id="6" name="Text 4"/>
          <p:cNvSpPr/>
          <p:nvPr/>
        </p:nvSpPr>
        <p:spPr>
          <a:xfrm>
            <a:off x="971550" y="2920603"/>
            <a:ext cx="4752975" cy="255389"/>
          </a:xfrm>
          <a:prstGeom prst="rect">
            <a:avLst/>
          </a:prstGeom>
          <a:noFill/>
          <a:ln/>
        </p:spPr>
        <p:txBody>
          <a:bodyPr wrap="square" lIns="2910" tIns="0" rIns="0" bIns="0" rtlCol="0" anchor="t"/>
          <a:lstStyle/>
          <a:p>
            <a:pPr algn="l" indent="0" marL="0">
              <a:lnSpc>
                <a:spcPts val="2012"/>
              </a:lnSpc>
              <a:buNone/>
            </a:pPr>
            <a:r>
              <a:rPr lang="en-US" sz="13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Two-phase design (69 runs) locked</a:t>
            </a:r>
            <a:endParaRPr lang="en-US" sz="1388" dirty="0"/>
          </a:p>
        </p:txBody>
      </p:sp>
      <p:sp>
        <p:nvSpPr>
          <p:cNvPr id="7" name="Text 5"/>
          <p:cNvSpPr/>
          <p:nvPr/>
        </p:nvSpPr>
        <p:spPr>
          <a:xfrm>
            <a:off x="971550" y="3242667"/>
            <a:ext cx="4752975" cy="255389"/>
          </a:xfrm>
          <a:prstGeom prst="rect">
            <a:avLst/>
          </a:prstGeom>
          <a:noFill/>
          <a:ln/>
        </p:spPr>
        <p:txBody>
          <a:bodyPr wrap="square" lIns="2910" tIns="0" rIns="0" bIns="0" rtlCol="0" anchor="t"/>
          <a:lstStyle/>
          <a:p>
            <a:pPr algn="l" indent="0" marL="0">
              <a:lnSpc>
                <a:spcPts val="2012"/>
              </a:lnSpc>
              <a:buNone/>
            </a:pPr>
            <a:r>
              <a:rPr lang="en-US" sz="13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Dual-solver baseline verified</a:t>
            </a:r>
            <a:endParaRPr lang="en-US" sz="1388" dirty="0"/>
          </a:p>
        </p:txBody>
      </p:sp>
      <p:sp>
        <p:nvSpPr>
          <p:cNvPr id="8" name="Text 6"/>
          <p:cNvSpPr/>
          <p:nvPr/>
        </p:nvSpPr>
        <p:spPr>
          <a:xfrm>
            <a:off x="6467475" y="2276475"/>
            <a:ext cx="4752975" cy="510778"/>
          </a:xfrm>
          <a:prstGeom prst="rect">
            <a:avLst/>
          </a:prstGeom>
          <a:noFill/>
          <a:ln/>
        </p:spPr>
        <p:txBody>
          <a:bodyPr wrap="square" lIns="2910" tIns="0" rIns="0" bIns="0" rtlCol="0" anchor="t"/>
          <a:lstStyle/>
          <a:p>
            <a:pPr algn="l" indent="0" marL="0">
              <a:lnSpc>
                <a:spcPts val="2012"/>
              </a:lnSpc>
              <a:buNone/>
            </a:pPr>
            <a:r>
              <a:rPr lang="en-US" sz="13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systematic plain-ANN architecture study on Lorenz-1960</a:t>
            </a:r>
            <a:endParaRPr lang="en-US" sz="1388" dirty="0"/>
          </a:p>
        </p:txBody>
      </p:sp>
      <p:sp>
        <p:nvSpPr>
          <p:cNvPr id="9" name="Text 7"/>
          <p:cNvSpPr/>
          <p:nvPr/>
        </p:nvSpPr>
        <p:spPr>
          <a:xfrm>
            <a:off x="6467475" y="2853928"/>
            <a:ext cx="4752975" cy="255389"/>
          </a:xfrm>
          <a:prstGeom prst="rect">
            <a:avLst/>
          </a:prstGeom>
          <a:noFill/>
          <a:ln/>
        </p:spPr>
        <p:txBody>
          <a:bodyPr wrap="square" lIns="2910" tIns="0" rIns="0" bIns="0" rtlCol="0" anchor="t"/>
          <a:lstStyle/>
          <a:p>
            <a:pPr algn="l" indent="0" marL="0">
              <a:lnSpc>
                <a:spcPts val="2012"/>
              </a:lnSpc>
              <a:buNone/>
            </a:pPr>
            <a:r>
              <a:rPr lang="en-US" sz="13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attribution of architecture vs optimizer effects</a:t>
            </a:r>
            <a:endParaRPr lang="en-US" sz="1388" dirty="0"/>
          </a:p>
        </p:txBody>
      </p:sp>
      <p:sp>
        <p:nvSpPr>
          <p:cNvPr id="10" name="Text 8"/>
          <p:cNvSpPr/>
          <p:nvPr/>
        </p:nvSpPr>
        <p:spPr>
          <a:xfrm>
            <a:off x="6467475" y="3175992"/>
            <a:ext cx="4752975" cy="255389"/>
          </a:xfrm>
          <a:prstGeom prst="rect">
            <a:avLst/>
          </a:prstGeom>
          <a:noFill/>
          <a:ln/>
        </p:spPr>
        <p:txBody>
          <a:bodyPr wrap="square" lIns="2910" tIns="0" rIns="0" bIns="0" rtlCol="0" anchor="t"/>
          <a:lstStyle/>
          <a:p>
            <a:pPr algn="l" indent="0" marL="0">
              <a:lnSpc>
                <a:spcPts val="2012"/>
              </a:lnSpc>
              <a:buNone/>
            </a:pPr>
            <a:r>
              <a:rPr lang="en-US" sz="13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scope — claims wait for FYDP-II evidence</a:t>
            </a:r>
            <a:endParaRPr lang="en-US" sz="1388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857250"/>
            <a:ext cx="107442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23900" y="1714500"/>
            <a:ext cx="5143500" cy="457200"/>
          </a:xfrm>
          <a:prstGeom prst="rect">
            <a:avLst/>
          </a:prstGeom>
          <a:noFill/>
          <a:ln/>
        </p:spPr>
        <p:txBody>
          <a:bodyPr wrap="square" lIns="3969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1Lorenz, E.N. (1960). Maximum simplification of the dynamic equations. Tellus 12(3).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23900" y="1714500"/>
            <a:ext cx="91440" cy="20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23900" y="2286000"/>
            <a:ext cx="5143500" cy="228600"/>
          </a:xfrm>
          <a:prstGeom prst="rect">
            <a:avLst/>
          </a:prstGeom>
          <a:noFill/>
          <a:ln/>
        </p:spPr>
        <p:txBody>
          <a:bodyPr wrap="square" lIns="3969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2Matthews &amp; Bihlo (2024). PinnDE: PINNs for ODEs and PDEs.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23900" y="2286000"/>
            <a:ext cx="91440" cy="20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23900" y="2628900"/>
            <a:ext cx="5143500" cy="228600"/>
          </a:xfrm>
          <a:prstGeom prst="rect">
            <a:avLst/>
          </a:prstGeom>
          <a:noFill/>
          <a:ln/>
        </p:spPr>
        <p:txBody>
          <a:bodyPr wrap="square" lIns="3969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3Raissi et al. (2019). Physics-informed neural networks. JCP 378.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3900" y="2628900"/>
            <a:ext cx="91440" cy="20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3900" y="2971800"/>
            <a:ext cx="5143500" cy="228600"/>
          </a:xfrm>
          <a:prstGeom prst="rect">
            <a:avLst/>
          </a:prstGeom>
          <a:noFill/>
          <a:ln/>
        </p:spPr>
        <p:txBody>
          <a:bodyPr wrap="square" lIns="3969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4Lagaris et al. (1998). ANN for solving ODEs/PDEs. IEEE TNN 9(5).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3900" y="2971800"/>
            <a:ext cx="91440" cy="20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24600" y="1714500"/>
            <a:ext cx="5143500" cy="228600"/>
          </a:xfrm>
          <a:prstGeom prst="rect">
            <a:avLst/>
          </a:prstGeom>
          <a:noFill/>
          <a:ln/>
        </p:spPr>
        <p:txBody>
          <a:bodyPr wrap="square" lIns="3969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5Lau &amp; Werth (2020). ODEN: solving ODEs with neural networks.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24600" y="1714500"/>
            <a:ext cx="91440" cy="20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24600" y="2057400"/>
            <a:ext cx="5143500" cy="228600"/>
          </a:xfrm>
          <a:prstGeom prst="rect">
            <a:avLst/>
          </a:prstGeom>
          <a:noFill/>
          <a:ln/>
        </p:spPr>
        <p:txBody>
          <a:bodyPr wrap="square" lIns="3969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6Mall &amp; Chakraverty (2013). ANN architectures for ODEs.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24600" y="2057400"/>
            <a:ext cx="91440" cy="20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24600" y="2400300"/>
            <a:ext cx="5143500" cy="228600"/>
          </a:xfrm>
          <a:prstGeom prst="rect">
            <a:avLst/>
          </a:prstGeom>
          <a:noFill/>
          <a:ln/>
        </p:spPr>
        <p:txBody>
          <a:bodyPr wrap="square" lIns="3969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7Dubey et al. (2024). Solving coupled ODEs with ANNs.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24600" y="2400300"/>
            <a:ext cx="91440" cy="20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24600" y="2743200"/>
            <a:ext cx="5143500" cy="228600"/>
          </a:xfrm>
          <a:prstGeom prst="rect">
            <a:avLst/>
          </a:prstGeom>
          <a:noFill/>
          <a:ln/>
        </p:spPr>
        <p:txBody>
          <a:bodyPr wrap="square" lIns="3969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8Chen et al. (2018). Neural ordinary differential equations. NeurIPS.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4600" y="2743200"/>
            <a:ext cx="91440" cy="20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23900" y="3409950"/>
            <a:ext cx="10744200" cy="171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bibliography (17 works) in the project report · paper/final/fydp.bib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4381" y="4324350"/>
            <a:ext cx="3010495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SupervisorDr. Muhammad Nomani Kabir</a:t>
            </a:r>
            <a:endParaRPr lang="en-US" sz="1275" dirty="0"/>
          </a:p>
        </p:txBody>
      </p:sp>
      <p:sp>
        <p:nvSpPr>
          <p:cNvPr id="3" name="Text 1"/>
          <p:cNvSpPr/>
          <p:nvPr/>
        </p:nvSpPr>
        <p:spPr>
          <a:xfrm>
            <a:off x="2904381" y="4371975"/>
            <a:ext cx="810964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6105376" y="4324350"/>
            <a:ext cx="91440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6349901" y="4324350"/>
            <a:ext cx="2937718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TeacherDr. Md. Motaharul Islam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6349901" y="4371975"/>
            <a:ext cx="1152227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TEACHER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FYDP-I Defense — Lorenz × ANN</dc:title>
  <dc:subject>PptxGenJS Presentation</dc:subject>
  <dc:creator>Team Paradox</dc:creator>
  <cp:lastModifiedBy>Team Paradox</cp:lastModifiedBy>
  <cp:revision>1</cp:revision>
  <dcterms:created xsi:type="dcterms:W3CDTF">2026-06-11T08:40:38Z</dcterms:created>
  <dcterms:modified xsi:type="dcterms:W3CDTF">2026-06-11T08:40:38Z</dcterms:modified>
</cp:coreProperties>
</file>