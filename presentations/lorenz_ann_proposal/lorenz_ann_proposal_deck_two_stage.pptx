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228600" y="5376672"/>
            <a:ext cx="7726679" cy="178308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6565392" y="5248656"/>
            <a:ext cx="1965960" cy="987552"/>
          </a:xfrm>
          <a:prstGeom prst="chevron">
            <a:avLst/>
          </a:prstGeom>
          <a:solidFill>
            <a:srgbClr val="D4A72C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8549640" cy="14813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Solving the Lorenz-1960 ODE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with ANN: Full Research Scope and FYDP-I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87168"/>
            <a:ext cx="7726679" cy="5852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6F3EB"/>
                </a:solidFill>
                <a:latin typeface="Arial"/>
              </a:rPr>
              <a:t>A two-stage presentation that separates the end research vision from the current FYDP-I deliverables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3182112"/>
            <a:ext cx="4114800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3364992"/>
            <a:ext cx="5943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Department of CSE, United International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39312"/>
            <a:ext cx="5486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FYDP-I proposal framing with future-phase research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77840"/>
            <a:ext cx="571500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33C"/>
                </a:solidFill>
                <a:latin typeface="Arial"/>
              </a:rPr>
              <a:t>Stage A shows the full research agenda.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33C"/>
                </a:solidFill>
                <a:latin typeface="Arial"/>
              </a:rPr>
              <a:t>Stage B narrows the talk to what FYDP-I will actually do now.</a:t>
            </a:r>
          </a:p>
        </p:txBody>
      </p:sp>
      <p:pic>
        <p:nvPicPr>
          <p:cNvPr id="11" name="Picture 1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5413248"/>
            <a:ext cx="1078992" cy="983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2600" y="6373368"/>
            <a:ext cx="2194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6F3EB"/>
                </a:solidFill>
                <a:latin typeface="Arial"/>
              </a:rPr>
              <a:t>March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Presentation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96112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The deck now uses a two-stage flow so the audience can distinguish the final research ambition from the realistic FYDP-I work package.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51663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1663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783080"/>
            <a:ext cx="5166360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783080"/>
            <a:ext cx="5166360" cy="566928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420624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Stage A: Entire Research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388620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Stage B: FYDP-I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542032"/>
            <a:ext cx="4480560" cy="224028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End goal: identify the best ANN architecture for the Lorenz-1960 ODE benchmark.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Final comparison: plain ANN versus numerical solvers and physics-informed models.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Longer-horizon output: defensible solver recommendation backed by experiments.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542032"/>
            <a:ext cx="4498848" cy="224028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Complete the literature review and position the gap clearly.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Implement Lorenz-1960 with Python ODE solvers and a custom RK method.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Optimize the numerical baseline so later ANN work has a strong reference.</a:t>
            </a:r>
          </a:p>
        </p:txBody>
      </p:sp>
      <p:sp>
        <p:nvSpPr>
          <p:cNvPr id="17" name="Chevron 16"/>
          <p:cNvSpPr/>
          <p:nvPr/>
        </p:nvSpPr>
        <p:spPr>
          <a:xfrm>
            <a:off x="5715000" y="3017520"/>
            <a:ext cx="347472" cy="932688"/>
          </a:xfrm>
          <a:prstGeom prst="chevron">
            <a:avLst/>
          </a:prstGeom>
          <a:solidFill>
            <a:srgbClr val="D4A72C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Best-practice structure: agenda first, then a visible scope transition.</a:t>
            </a:r>
          </a:p>
        </p:txBody>
      </p:sp>
      <p:pic>
        <p:nvPicPr>
          <p:cNvPr id="19" name="Picture 18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115568"/>
            <a:ext cx="1874519" cy="56692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216152"/>
            <a:ext cx="1600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33C"/>
                </a:solidFill>
                <a:latin typeface="Arial"/>
              </a:rPr>
              <a:t>Stage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813816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Entire Research Scope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94944" y="2880360"/>
            <a:ext cx="3840480" cy="0"/>
          </a:xfrm>
          <a:prstGeom prst="line">
            <a:avLst/>
          </a:prstGeom>
          <a:ln w="3556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3063240"/>
            <a:ext cx="7955279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3EB"/>
                </a:solidFill>
                <a:latin typeface="Arial"/>
              </a:rPr>
              <a:t>Start with the full destination of the project before narrowing to the current semester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76672"/>
            <a:ext cx="67665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4A72C"/>
                </a:solidFill>
                <a:latin typeface="Arial"/>
              </a:rPr>
              <a:t>Use this divider to signal a scope shift during the talk.</a:t>
            </a:r>
          </a:p>
        </p:txBody>
      </p:sp>
      <p:sp>
        <p:nvSpPr>
          <p:cNvPr id="9" name="Oval 8"/>
          <p:cNvSpPr/>
          <p:nvPr/>
        </p:nvSpPr>
        <p:spPr>
          <a:xfrm>
            <a:off x="9144000" y="960120"/>
            <a:ext cx="402336" cy="402336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1508760"/>
            <a:ext cx="237744" cy="237744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35640" y="2148840"/>
            <a:ext cx="310896" cy="310896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92840" y="1143000"/>
            <a:ext cx="164592" cy="164592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868680" cy="7917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Two-stage structure added to separate long-horizon research vision from FYDP-I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Entire Research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960120"/>
            <a:ext cx="4937760" cy="1874519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207008"/>
            <a:ext cx="44348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A72C"/>
                </a:solidFill>
                <a:latin typeface="Arial"/>
              </a:rPr>
              <a:t>Research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36192"/>
            <a:ext cx="43891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Solve the Lorenz-1960 ODE system with ANN models and determine which ANN architecture performs best.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960120"/>
            <a:ext cx="54406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960120"/>
            <a:ext cx="109728" cy="1874519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106424"/>
            <a:ext cx="50932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Full Comparison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1472184"/>
            <a:ext cx="5093208" cy="12161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Use the same Lorenz-1960 benchmark to compare plain ANN performance against numerical solvers such as Runge-Kutta and against physics-informed approaches such as PINNs or DeepONet-based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37560"/>
            <a:ext cx="3566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337560"/>
            <a:ext cx="109728" cy="192024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483864"/>
            <a:ext cx="321868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849624"/>
            <a:ext cx="3218688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One fixed problem: Lorenz-1960, three coupled nonlinear ODEs, same interval and initial condition.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4568" y="3337560"/>
            <a:ext cx="3566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44568" y="3337560"/>
            <a:ext cx="109728" cy="192024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3483864"/>
            <a:ext cx="321868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Architecture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4" y="3849624"/>
            <a:ext cx="3218688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Vary depth, width, activation, and training strategy for plain ANN 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8" y="3337560"/>
            <a:ext cx="35661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9328" y="3337560"/>
            <a:ext cx="109728" cy="1920240"/>
          </a:xfrm>
          <a:prstGeom prst="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3483864"/>
            <a:ext cx="321868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849624"/>
            <a:ext cx="3218688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Judge models by error, stability, runtime, and interpretability of the final recommendation.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Stage A defines the final destination of the research, not the immediate FYDP-I workload.</a:t>
            </a:r>
          </a:p>
        </p:txBody>
      </p:sp>
      <p:pic>
        <p:nvPicPr>
          <p:cNvPr id="28" name="Picture 27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Benchmark Problem from Paper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914400"/>
            <a:ext cx="384048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914400"/>
            <a:ext cx="109728" cy="512064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060704"/>
            <a:ext cx="34930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Paper 1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426464"/>
            <a:ext cx="3493008" cy="44622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Section 4.1 in Paper 1 is a rigid-body ODE example.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Section 4.2 is the Lorenz-1960 benchmark used for this FYDP.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This deck uses the Lorenz-1960 system as the common comparison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914400"/>
            <a:ext cx="676656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15568"/>
            <a:ext cx="6263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Lorenz-1960 System Used in Paper 1 Section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72768"/>
            <a:ext cx="6172200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C"/>
                </a:solidFill>
                <a:latin typeface="Arial"/>
              </a:rPr>
              <a:t>dx/dt = k l (1/(k^2+l^2) - 1/k^2) yz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C"/>
                </a:solidFill>
                <a:latin typeface="Arial"/>
              </a:rPr>
              <a:t>dy/dt = k l (1/l^2 - 1/(k^2+l^2)) xz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C"/>
                </a:solidFill>
                <a:latin typeface="Arial"/>
              </a:rPr>
              <a:t>dz/dt = (k l^2 / 2) (1/k^2 - 1/l^2) 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069080"/>
            <a:ext cx="31546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4069080"/>
            <a:ext cx="109728" cy="169164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4215384"/>
            <a:ext cx="28072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4581144"/>
            <a:ext cx="2807208" cy="10332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k = 2, l 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Interval: t in [0, 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69080"/>
            <a:ext cx="33375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069080"/>
            <a:ext cx="109728" cy="169164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4215384"/>
            <a:ext cx="299008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Initial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4581144"/>
            <a:ext cx="2990088" cy="10332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x(0) = 0.5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y(0) = 0.75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z(0) = 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Clarified benchmark source: Paper 1 Section 4.2 is Lorenz-1960; Section 4.1 is rigid body.</a:t>
            </a:r>
          </a:p>
        </p:txBody>
      </p:sp>
      <p:pic>
        <p:nvPicPr>
          <p:cNvPr id="24" name="Picture 23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Full Research Method and Comparison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789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The full study uses one benchmark problem and compares three solver perspectives around that same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1444752" cy="1298448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2344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Numerical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401568"/>
            <a:ext cx="148132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SciPy ODE solver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and custom RK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74519"/>
            <a:ext cx="1444752" cy="1298448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84831"/>
            <a:ext cx="12344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Plain ANN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401568"/>
            <a:ext cx="148132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Search depth, width,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activation, optimizer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874519"/>
            <a:ext cx="1444752" cy="1298448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084831"/>
            <a:ext cx="12344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PINN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DeepONet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401568"/>
            <a:ext cx="148132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Use literature or later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implementation as anchor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874519"/>
            <a:ext cx="1444752" cy="129844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2084831"/>
            <a:ext cx="12344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Metric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3401568"/>
            <a:ext cx="148132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Error, stability,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runtime, practicality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874519"/>
            <a:ext cx="1444752" cy="1298448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84831"/>
            <a:ext cx="12344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Final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401568"/>
            <a:ext cx="148132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Best architecture with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clear trade-off story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13432" y="2523744"/>
            <a:ext cx="493776" cy="0"/>
          </a:xfrm>
          <a:prstGeom prst="line">
            <a:avLst/>
          </a:prstGeom>
          <a:ln w="29209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25112" y="2523744"/>
            <a:ext cx="493776" cy="0"/>
          </a:xfrm>
          <a:prstGeom prst="line">
            <a:avLst/>
          </a:prstGeom>
          <a:ln w="29209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36792" y="2523744"/>
            <a:ext cx="493776" cy="0"/>
          </a:xfrm>
          <a:prstGeom prst="line">
            <a:avLst/>
          </a:prstGeom>
          <a:ln w="29209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48471" y="2523744"/>
            <a:ext cx="493777" cy="0"/>
          </a:xfrm>
          <a:prstGeom prst="line">
            <a:avLst/>
          </a:prstGeom>
          <a:ln w="29209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8680" y="4709160"/>
            <a:ext cx="49834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709160"/>
            <a:ext cx="109728" cy="118872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" y="4855464"/>
            <a:ext cx="46360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this framing is strong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5221224"/>
            <a:ext cx="4636008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It prevents comparing different models on different equations. Every method is judged on the same Lorenz-1960 target.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709160"/>
            <a:ext cx="50749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709160"/>
            <a:ext cx="109728" cy="118872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855464"/>
            <a:ext cx="47274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happens later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5221224"/>
            <a:ext cx="4727448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ANN architecture optimization and ANN-versus-PINN comparison belong to later phases, after the numerical baseline is reliable.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Best practice: explain the comparison frame before showing the narrower FYDP-I scope.</a:t>
            </a:r>
          </a:p>
        </p:txBody>
      </p:sp>
      <p:pic>
        <p:nvPicPr>
          <p:cNvPr id="37" name="Picture 36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Long-Horizon Research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5661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5112" y="1417320"/>
            <a:ext cx="35661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64424" y="1417320"/>
            <a:ext cx="35661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3566160" cy="54864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417320"/>
            <a:ext cx="3566160" cy="54864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1417320"/>
            <a:ext cx="3566160" cy="54864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545336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FYDP-I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545336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FYDP-II 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545336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FYDP-III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2788920" cy="32004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Complete literature review and gap map.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Implement Python ODE baselines for Lorenz-1960.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Tune solver accuracy and prepare report chapters.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240280"/>
            <a:ext cx="2788920" cy="32004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Train plain ANN candidate architectures.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Run systematic hyperparameter comparisons.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Benchmark ANN results against numerical references.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240280"/>
            <a:ext cx="2788920" cy="32004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Add PINN / literature comparison layer.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Write analysis, limitations, and recommendation.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>
                <a:solidFill>
                  <a:srgbClr val="212B36"/>
                </a:solidFill>
                <a:latin typeface="Arial"/>
              </a:rPr>
              <a:t>Package final thesis and presentation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This slide makes the staging explicit so FYDP-I is not over-promised.</a:t>
            </a:r>
          </a:p>
        </p:txBody>
      </p:sp>
      <p:pic>
        <p:nvPicPr>
          <p:cNvPr id="21" name="Picture 2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115568"/>
            <a:ext cx="1874519" cy="566928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216152"/>
            <a:ext cx="1600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33C"/>
                </a:solidFill>
                <a:latin typeface="Arial"/>
              </a:rPr>
              <a:t>Stage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813816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FYDP-I Scope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94944" y="2880360"/>
            <a:ext cx="3840480" cy="0"/>
          </a:xfrm>
          <a:prstGeom prst="line">
            <a:avLst/>
          </a:prstGeom>
          <a:ln w="35560">
            <a:solidFill>
              <a:srgbClr val="166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3063240"/>
            <a:ext cx="7955279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3EB"/>
                </a:solidFill>
                <a:latin typeface="Arial"/>
              </a:rPr>
              <a:t>Now shift from the end goal to the concrete work package that can be delivered in FYDP-I.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76672"/>
            <a:ext cx="676656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6C7A"/>
                </a:solidFill>
                <a:latin typeface="Arial"/>
              </a:rPr>
              <a:t>Use this divider to signal a scope shift during the talk.</a:t>
            </a:r>
          </a:p>
        </p:txBody>
      </p:sp>
      <p:sp>
        <p:nvSpPr>
          <p:cNvPr id="9" name="Oval 8"/>
          <p:cNvSpPr/>
          <p:nvPr/>
        </p:nvSpPr>
        <p:spPr>
          <a:xfrm>
            <a:off x="9144000" y="960120"/>
            <a:ext cx="402336" cy="402336"/>
          </a:xfrm>
          <a:prstGeom prst="ellipse">
            <a:avLst/>
          </a:prstGeom>
          <a:solidFill>
            <a:srgbClr val="166C7A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1508760"/>
            <a:ext cx="237744" cy="237744"/>
          </a:xfrm>
          <a:prstGeom prst="ellipse">
            <a:avLst/>
          </a:prstGeom>
          <a:solidFill>
            <a:srgbClr val="166C7A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35640" y="2148840"/>
            <a:ext cx="310896" cy="310896"/>
          </a:xfrm>
          <a:prstGeom prst="ellipse">
            <a:avLst/>
          </a:prstGeom>
          <a:solidFill>
            <a:srgbClr val="166C7A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92840" y="1143000"/>
            <a:ext cx="164592" cy="164592"/>
          </a:xfrm>
          <a:prstGeom prst="ellipse">
            <a:avLst/>
          </a:prstGeom>
          <a:solidFill>
            <a:srgbClr val="166C7A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868680" cy="7917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Two-stage structure added to separate long-horizon research vision from FYDP-I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FYDP-I Scope: What We Will Do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32688"/>
            <a:ext cx="525780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932688"/>
            <a:ext cx="109728" cy="507492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078992"/>
            <a:ext cx="49103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FYDP-I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444752"/>
            <a:ext cx="4910328" cy="4416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Complete the literature review around numerical solvers, ANN-based solvers, PINNs, and Neural ODEs.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Implement the Lorenz-1960 system using a Python library ODE solver and a custom Runge-Kutta solver.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Optimize the numerical baseline for accuracy, runtime, and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932688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932688"/>
            <a:ext cx="109728" cy="233172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078992"/>
            <a:ext cx="47274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Immediate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444752"/>
            <a:ext cx="4727448" cy="1673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Verified equations and reference trajectories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Plots for x(t), y(t), z(t)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Literature-backed problem statement and gap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39312"/>
            <a:ext cx="50749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39312"/>
            <a:ext cx="109728" cy="237744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785616"/>
            <a:ext cx="47274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Out of Scope for FYDP-I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151376"/>
            <a:ext cx="4727448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Final ANN architecture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Full ANN versus PINN experimental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Final solver recommendation across all model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Stage B narrows the promise: FYDP-I builds the benchmark and literature foundation first.</a:t>
            </a:r>
          </a:p>
        </p:txBody>
      </p:sp>
      <p:pic>
        <p:nvPicPr>
          <p:cNvPr id="21" name="Picture 2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FYDP-I Literature Review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789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The literature review should prepare the comparison frame, not just summarize papers one by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36118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09728" cy="246888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810512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Paper 1: PinnDE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76272"/>
            <a:ext cx="3264408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Use Section 4.2 for the Lorenz-1960 benchmark and note that Section 4.1 is a different ODE benchmark.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664208"/>
            <a:ext cx="36118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1664208"/>
            <a:ext cx="109728" cy="246888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10512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Paper 2: ANN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176272"/>
            <a:ext cx="3264408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Use it to position non-physics-informed ANN solvers and common architectural defaults such as tanh-based MLPs.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664208"/>
            <a:ext cx="36118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664208"/>
            <a:ext cx="109728" cy="246888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10512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Paper 3: Neural 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76272"/>
            <a:ext cx="3264408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Use it as a contrast class: neural network as dynamics model, not just as a direct solution approximator.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7200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572000"/>
            <a:ext cx="109728" cy="1417320"/>
          </a:xfrm>
          <a:prstGeom prst="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718304"/>
            <a:ext cx="49103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Review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084064"/>
            <a:ext cx="491032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Gap statement: the literature does not yet answer which plain ANN architecture is best for Lorenz-1960 under a unified comparison setup.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5720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4572000"/>
            <a:ext cx="109728" cy="14173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4718304"/>
            <a:ext cx="48646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Report Chapters Enabled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084064"/>
            <a:ext cx="486460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Chapter 1: problem, motivation, objectives.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Chapter 2: background, related work, gap analysis, benchmark justification.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Best-practice review slide: papers are connected to decisions, not listed as isolated summaries.</a:t>
            </a:r>
          </a:p>
        </p:txBody>
      </p:sp>
      <p:pic>
        <p:nvPicPr>
          <p:cNvPr id="30" name="Picture 29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FYDP-I Implementation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481328" cy="1280160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1335024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Define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1572768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Encode the Section 4.2 Lorenz-1960 equations and verify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1783080"/>
            <a:ext cx="1481328" cy="1280160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93392"/>
            <a:ext cx="1335024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SciPy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273552"/>
            <a:ext cx="1572768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Implement solve_ivp or equivalent library solver with tight tolerances.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1783080"/>
            <a:ext cx="1481328" cy="1280160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993392"/>
            <a:ext cx="1335024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Custom RK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273552"/>
            <a:ext cx="1572768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Implement RK4 directly so the baseline is transparent and reproducible.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783080"/>
            <a:ext cx="1481328" cy="1280160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993392"/>
            <a:ext cx="1335024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Optimize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3273552"/>
            <a:ext cx="1572768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Compare curves, absolute errors, step sizes, and runtime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2" y="1783080"/>
            <a:ext cx="1481328" cy="1280160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1993392"/>
            <a:ext cx="1335024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Prepare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3273552"/>
            <a:ext cx="1572768" cy="9601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Export plots, tables, and explanation for later ANN stages.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04288" y="2423160"/>
            <a:ext cx="658368" cy="0"/>
          </a:xfrm>
          <a:prstGeom prst="line">
            <a:avLst/>
          </a:prstGeom>
          <a:ln w="2794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17136" y="2423160"/>
            <a:ext cx="658368" cy="0"/>
          </a:xfrm>
          <a:prstGeom prst="line">
            <a:avLst/>
          </a:prstGeom>
          <a:ln w="2794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29984" y="2423160"/>
            <a:ext cx="658368" cy="0"/>
          </a:xfrm>
          <a:prstGeom prst="line">
            <a:avLst/>
          </a:prstGeom>
          <a:ln w="2794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42832" y="2423160"/>
            <a:ext cx="658368" cy="0"/>
          </a:xfrm>
          <a:prstGeom prst="line">
            <a:avLst/>
          </a:prstGeom>
          <a:ln w="2794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709160"/>
            <a:ext cx="4846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709160"/>
            <a:ext cx="109728" cy="123444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" y="4855464"/>
            <a:ext cx="44988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Optimization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5221224"/>
            <a:ext cx="4498848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For FYDP-I, optimization means improving the numerical reference quality and code efficiency, not yet tuning ANN architectures.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709160"/>
            <a:ext cx="4983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4709160"/>
            <a:ext cx="109728" cy="123444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4855464"/>
            <a:ext cx="46360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this matters 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5221224"/>
            <a:ext cx="4636008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weak baseline makes all future ANN claims unreliable. FYDP-I should lock down the benchmark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Implementation is framed as benchmark building, which is the correct FYDP-I level of commitment.</a:t>
            </a:r>
          </a:p>
        </p:txBody>
      </p:sp>
      <p:pic>
        <p:nvPicPr>
          <p:cNvPr id="36" name="Picture 35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FYDP-I Deliverables and Success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09728"/>
            <a:ext cx="27432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Two-Stage Research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960120"/>
            <a:ext cx="48006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960120"/>
            <a:ext cx="109728" cy="50292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106424"/>
            <a:ext cx="44531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472184"/>
            <a:ext cx="4453128" cy="4370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Literature review matrix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Gap analysis focused on Lorenz-1960 and ANN solver positioning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Python scripts for library solver and RK4 baseline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Accuracy and runtime comparison plots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Presentation and report chapters aligned with the two-stage project framing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960120"/>
            <a:ext cx="54864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33872" y="960120"/>
            <a:ext cx="109728" cy="196596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106424"/>
            <a:ext cx="51389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Success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1472184"/>
            <a:ext cx="513892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The benchmark equations are verified, numerical trajectories are reproducible, and the report clearly explains why ANN optimization is a later-phase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2" y="3273552"/>
            <a:ext cx="5486400" cy="2724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33872" y="3273552"/>
            <a:ext cx="109728" cy="2724912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3419856"/>
            <a:ext cx="51389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Supervisor-Facing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785616"/>
            <a:ext cx="5138928" cy="20665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FYDP-I is not just theory. It produces a validated computational baseline and a literature-backed argument for the later ANN architecture study.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Success is defined by a strong foundation for later ANN experiments, not by claiming final ANN results too early.</a:t>
            </a:r>
          </a:p>
        </p:txBody>
      </p:sp>
      <p:pic>
        <p:nvPicPr>
          <p:cNvPr id="21" name="Picture 2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961888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713232"/>
            <a:ext cx="11018520" cy="5394960"/>
          </a:xfrm>
          <a:prstGeom prst="roundRect">
            <a:avLst/>
          </a:prstGeom>
          <a:noFill/>
          <a:ln w="381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25296"/>
            <a:ext cx="78638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72C"/>
                </a:solidFill>
                <a:latin typeface="Arial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92224"/>
            <a:ext cx="9555480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The full research asks which ANN architecture best solves the Lorenz-1960 ODE system.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FYDP-I delivers the literature base and the optimized numerical benchmark needed to answer that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858768"/>
            <a:ext cx="8732520" cy="7863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3EB"/>
                </a:solidFill>
                <a:latin typeface="Arial"/>
              </a:rPr>
              <a:t>This two-stage structure keeps the presentation ambitious but credible: long-term ANN comparison, short-term benchmark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212080"/>
            <a:ext cx="3840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A72C"/>
                </a:solidFill>
                <a:latin typeface="Arial"/>
              </a:rPr>
              <a:t>Supervisor discussion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486400"/>
            <a:ext cx="81381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6F3EB"/>
                </a:solidFill>
                <a:latin typeface="Arial"/>
              </a:rPr>
              <a:t>confirm FYDP-I boundary, later ANN search space, and the preferred numerical reference method</a:t>
            </a:r>
          </a:p>
        </p:txBody>
      </p:sp>
      <p:pic>
        <p:nvPicPr>
          <p:cNvPr id="9" name="Picture 8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4882896"/>
            <a:ext cx="1115568" cy="10167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Prepared from the current FYDP notes, project plans, and Paper 1 Section 4.2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Lorenz-1960 Two-Stage Research Deck</dc:title>
  <dc:subject>Research scope and FYDP-I scope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