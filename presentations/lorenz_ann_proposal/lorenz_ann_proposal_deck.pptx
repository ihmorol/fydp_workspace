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0" y="5440680"/>
            <a:ext cx="7498079" cy="173736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6537960" y="5285232"/>
            <a:ext cx="1920240" cy="1005840"/>
          </a:xfrm>
          <a:prstGeom prst="chevron">
            <a:avLst/>
          </a:prstGeom>
          <a:solidFill>
            <a:srgbClr val="D4A72C"/>
          </a:solidFill>
          <a:ln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822960"/>
            <a:ext cx="384048" cy="384048"/>
          </a:xfrm>
          <a:prstGeom prst="ellipse">
            <a:avLst/>
          </a:prstGeom>
          <a:solidFill>
            <a:srgbClr val="D4A72C"/>
          </a:solidFill>
          <a:ln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46920" y="1325880"/>
            <a:ext cx="219456" cy="219456"/>
          </a:xfrm>
          <a:prstGeom prst="ellipse">
            <a:avLst/>
          </a:prstGeom>
          <a:solidFill>
            <a:srgbClr val="D4A72C"/>
          </a:solidFill>
          <a:ln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0" y="1965960"/>
            <a:ext cx="310896" cy="310896"/>
          </a:xfrm>
          <a:prstGeom prst="ellipse">
            <a:avLst/>
          </a:prstGeom>
          <a:solidFill>
            <a:srgbClr val="D4A72C"/>
          </a:solidFill>
          <a:ln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64240" y="1097280"/>
            <a:ext cx="164592" cy="164592"/>
          </a:xfrm>
          <a:prstGeom prst="ellipse">
            <a:avLst/>
          </a:prstGeom>
          <a:solidFill>
            <a:srgbClr val="D4A72C"/>
          </a:solidFill>
          <a:ln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841248"/>
            <a:ext cx="8138160" cy="1508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Optimal ANN Architecture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for Solving the Lorenz-1960 ODE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523744"/>
            <a:ext cx="704088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6F3EB"/>
                </a:solidFill>
                <a:latin typeface="Arial"/>
              </a:rPr>
              <a:t>Research proposal focused on goal, motivation, method, and expected contribution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3218688"/>
            <a:ext cx="3749039" cy="0"/>
          </a:xfrm>
          <a:prstGeom prst="line">
            <a:avLst/>
          </a:prstGeom>
          <a:ln w="31750">
            <a:solidFill>
              <a:srgbClr val="D4A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3401568"/>
            <a:ext cx="53035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6F3EB"/>
                </a:solidFill>
                <a:latin typeface="Arial"/>
              </a:rPr>
              <a:t>Department of CSE, United International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75887"/>
            <a:ext cx="45720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6F3EB"/>
                </a:solidFill>
                <a:latin typeface="Arial"/>
              </a:rPr>
              <a:t>Final Year Design Project 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641848"/>
            <a:ext cx="51206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Proposal narrative: why Lorenz-1960, why plain ANN,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and what this study contributes</a:t>
            </a:r>
          </a:p>
        </p:txBody>
      </p:sp>
      <p:pic>
        <p:nvPicPr>
          <p:cNvPr id="15" name="Picture 14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440680"/>
            <a:ext cx="1051560" cy="95842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09760" y="6373368"/>
            <a:ext cx="20116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6F3EB"/>
                </a:solidFill>
                <a:latin typeface="Arial"/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146304"/>
            <a:ext cx="566928" cy="29260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566928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"/>
            <a:ext cx="7955279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Why This Problem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109728"/>
            <a:ext cx="24688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FYDP-I Proposal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539496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12B36"/>
                </a:solidFill>
                <a:latin typeface="Arial"/>
              </a:rPr>
              <a:t>ODE solvers sit underneath many physical simulations, but repeated numerical integration is expensive when experiments must be run again and again.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361188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28800"/>
            <a:ext cx="109728" cy="2560320"/>
          </a:xfrm>
          <a:prstGeom prst="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975104"/>
            <a:ext cx="326440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Physics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340864"/>
            <a:ext cx="3264408" cy="1901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26071"/>
                </a:solidFill>
                <a:latin typeface="Arial"/>
              </a:rPr>
              <a:t>Weather evolution, fluid interaction, and other nonlinear dynamical systems are naturally written as ordinary differential equations.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19" y="1828800"/>
            <a:ext cx="361188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19" y="1828800"/>
            <a:ext cx="109728" cy="2560320"/>
          </a:xfrm>
          <a:prstGeom prst="rect">
            <a:avLst/>
          </a:prstGeom>
          <a:solidFill>
            <a:srgbClr val="B85841"/>
          </a:solidFill>
          <a:ln w="15240">
            <a:solidFill>
              <a:srgbClr val="B85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5" y="1975104"/>
            <a:ext cx="326440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Computational 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5" y="2340864"/>
            <a:ext cx="3264408" cy="1901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26071"/>
                </a:solidFill>
                <a:latin typeface="Arial"/>
              </a:rPr>
              <a:t>Classical methods such as Euler and Runge-Kutta are accurate, but they must be rerun for each setup and do not provide a reusable learned surrogate.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0" y="1828800"/>
            <a:ext cx="361188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1310" y="1828800"/>
            <a:ext cx="109728" cy="2560320"/>
          </a:xfrm>
          <a:prstGeom prst="rect">
            <a:avLst/>
          </a:prstGeom>
          <a:solidFill>
            <a:srgbClr val="6E8466"/>
          </a:solidFill>
          <a:ln w="15240">
            <a:solidFill>
              <a:srgbClr val="6E8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6" y="1975104"/>
            <a:ext cx="326440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Research 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6" y="2340864"/>
            <a:ext cx="3264408" cy="1901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26071"/>
                </a:solidFill>
                <a:latin typeface="Arial"/>
              </a:rPr>
              <a:t>A trained ANN can approximate the solution map directly, turning expensive repeated solving into fast inference after training.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00600"/>
            <a:ext cx="1101852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0233C"/>
                </a:solidFill>
                <a:latin typeface="Arial"/>
              </a:rPr>
              <a:t>Core motivation: can a plain ANN become a practical surrogate for a nonlinear physical ODE system without relying on physics-informed loss terms?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71"/>
                </a:solidFill>
                <a:latin typeface="Arial"/>
              </a:rPr>
              <a:t>Context synthesized from project notes and Introduction chapter draft.</a:t>
            </a:r>
          </a:p>
        </p:txBody>
      </p:sp>
      <p:pic>
        <p:nvPicPr>
          <p:cNvPr id="24" name="Picture 23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5989320"/>
            <a:ext cx="685800" cy="6250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146304"/>
            <a:ext cx="566928" cy="29260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566928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"/>
            <a:ext cx="7955279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Problem Setting and Research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109728"/>
            <a:ext cx="24688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FYDP-I Proposal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10642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12B36"/>
                </a:solidFill>
                <a:latin typeface="Arial"/>
              </a:rPr>
              <a:t>The literature already covers accurate classical solving and physics-informed neural approaches, but not the architecture question this project targets.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37360"/>
            <a:ext cx="283464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109728" cy="2743200"/>
          </a:xfrm>
          <a:prstGeom prst="rect">
            <a:avLst/>
          </a:prstGeom>
          <a:solidFill>
            <a:srgbClr val="526071"/>
          </a:solidFill>
          <a:ln w="15240">
            <a:solidFill>
              <a:srgbClr val="526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883664"/>
            <a:ext cx="248716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Classical Solvers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249424"/>
            <a:ext cx="2487168" cy="2084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High numerical accuracy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Reliable baselines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But solver-bound and repeated for every condition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50791" y="1737360"/>
            <a:ext cx="283464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50791" y="1737360"/>
            <a:ext cx="109728" cy="2743200"/>
          </a:xfrm>
          <a:prstGeom prst="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7" y="1883664"/>
            <a:ext cx="248716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PINNs / DeepONet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7" y="2249424"/>
            <a:ext cx="2487168" cy="2084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Lorenz-1960 already appears in recent PINN/operator-learning 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Adds physics loss or structured operators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3216" y="1737360"/>
            <a:ext cx="283464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43216" y="1737360"/>
            <a:ext cx="109728" cy="2743200"/>
          </a:xfrm>
          <a:prstGeom prst="rect">
            <a:avLst/>
          </a:prstGeom>
          <a:solidFill>
            <a:srgbClr val="B85841"/>
          </a:solidFill>
          <a:ln w="15240">
            <a:solidFill>
              <a:srgbClr val="B85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2" y="1883664"/>
            <a:ext cx="248716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Plain ANN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2" y="2249424"/>
            <a:ext cx="2487168" cy="2084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No clear study of which depth, width, and activation choices work best for a pure ANN on Lorenz-1960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983480" y="5010912"/>
            <a:ext cx="2240280" cy="502920"/>
          </a:xfrm>
          <a:prstGeom prst="rightArrow">
            <a:avLst/>
          </a:prstGeom>
          <a:solidFill>
            <a:srgbClr val="D4A72C"/>
          </a:solidFill>
          <a:ln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892040"/>
            <a:ext cx="384048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0233C"/>
                </a:solidFill>
                <a:latin typeface="Arial"/>
              </a:rPr>
              <a:t>Research direction: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0233C"/>
                </a:solidFill>
                <a:latin typeface="Arial"/>
              </a:rPr>
              <a:t>plain ANN architecture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4892040"/>
            <a:ext cx="365760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0233C"/>
                </a:solidFill>
                <a:latin typeface="Arial"/>
              </a:rPr>
              <a:t>Target output: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0233C"/>
                </a:solidFill>
                <a:latin typeface="Arial"/>
              </a:rPr>
              <a:t>best architecture +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71"/>
                </a:solidFill>
                <a:latin typeface="Arial"/>
              </a:rPr>
              <a:t>Key references: Matthews &amp; Bihlo (2025); Pratama et al. (2022); Chen et al. (2019).</a:t>
            </a:r>
          </a:p>
        </p:txBody>
      </p:sp>
      <p:pic>
        <p:nvPicPr>
          <p:cNvPr id="25" name="Picture 24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5989320"/>
            <a:ext cx="685800" cy="6250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146304"/>
            <a:ext cx="566928" cy="29260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566928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"/>
            <a:ext cx="7955279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Goal, Research Question, and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109728"/>
            <a:ext cx="24688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FYDP-I Proposal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05840"/>
            <a:ext cx="5257800" cy="1828800"/>
          </a:xfrm>
          <a:prstGeom prst="round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225296"/>
            <a:ext cx="466344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4A72C"/>
                </a:solidFill>
                <a:latin typeface="Arial"/>
              </a:rPr>
              <a:t>Primary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554480"/>
            <a:ext cx="461772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Identify the ANN architecture that best approximates the Lorenz-1960 ODE solution while staying simpler than physics-informed alternatives.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05840"/>
            <a:ext cx="53492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005840"/>
            <a:ext cx="109728" cy="182880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152144"/>
            <a:ext cx="500176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Research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517904"/>
            <a:ext cx="5001768" cy="11704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526071"/>
                </a:solidFill>
                <a:latin typeface="Arial"/>
              </a:rPr>
              <a:t>Which combination of depth, width, activation function, and training strategy gives the lowest error for solving the Lorenz-1960 initial value problem?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429000"/>
            <a:ext cx="356616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639312"/>
            <a:ext cx="566928" cy="347472"/>
          </a:xfrm>
          <a:prstGeom prst="round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39312"/>
            <a:ext cx="566928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O1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33087"/>
            <a:ext cx="315468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12B36"/>
                </a:solidFill>
                <a:latin typeface="Arial"/>
              </a:rPr>
              <a:t>Generate a high-accuracy numerical reference solution.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44568" y="3429000"/>
            <a:ext cx="356616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09160" y="3639312"/>
            <a:ext cx="566928" cy="347472"/>
          </a:xfrm>
          <a:prstGeom prst="roundRect">
            <a:avLst/>
          </a:prstGeom>
          <a:solidFill>
            <a:srgbClr val="B85841"/>
          </a:solidFill>
          <a:ln w="15240">
            <a:solidFill>
              <a:srgbClr val="B85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3639312"/>
            <a:ext cx="566928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O2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133087"/>
            <a:ext cx="315468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12B36"/>
                </a:solidFill>
                <a:latin typeface="Arial"/>
              </a:rPr>
              <a:t>Train multiple plain ANN configurations from time to state.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39328" y="3429000"/>
            <a:ext cx="356616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0" y="3639312"/>
            <a:ext cx="566928" cy="347472"/>
          </a:xfrm>
          <a:prstGeom prst="roundRect">
            <a:avLst/>
          </a:prstGeom>
          <a:solidFill>
            <a:srgbClr val="6E8466"/>
          </a:solidFill>
          <a:ln w="15240">
            <a:solidFill>
              <a:srgbClr val="6E8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3639312"/>
            <a:ext cx="566928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O3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133087"/>
            <a:ext cx="315468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12B36"/>
                </a:solidFill>
                <a:latin typeface="Arial"/>
              </a:rPr>
              <a:t>Compare error, efficiency, and stability across architectures.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71"/>
                </a:solidFill>
                <a:latin typeface="Arial"/>
              </a:rPr>
              <a:t>Objectives adapted from the FYDP research structure plan.</a:t>
            </a:r>
          </a:p>
        </p:txBody>
      </p:sp>
      <p:pic>
        <p:nvPicPr>
          <p:cNvPr id="28" name="Picture 27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5989320"/>
            <a:ext cx="685800" cy="6250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146304"/>
            <a:ext cx="566928" cy="29260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566928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"/>
            <a:ext cx="7955279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Target System and Proposed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109728"/>
            <a:ext cx="24688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FYDP-I Proposal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960120"/>
            <a:ext cx="36576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960120"/>
            <a:ext cx="109728" cy="2331720"/>
          </a:xfrm>
          <a:prstGeom prst="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106424"/>
            <a:ext cx="331012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Lorenz-1960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472184"/>
            <a:ext cx="3310128" cy="1673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Three coupled nonlinear ODEs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Parameters: k=2, l=1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Initial state: x(0)=0.5, y(0)=0.75, z(0)=1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Time interval: t in [0, 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611880"/>
            <a:ext cx="365760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611880"/>
            <a:ext cx="109728" cy="1783080"/>
          </a:xfrm>
          <a:prstGeom prst="rect">
            <a:avLst/>
          </a:prstGeom>
          <a:solidFill>
            <a:srgbClr val="B85841"/>
          </a:solidFill>
          <a:ln w="15240">
            <a:solidFill>
              <a:srgbClr val="B85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758184"/>
            <a:ext cx="331012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Model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123944"/>
            <a:ext cx="3310128" cy="11247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26071"/>
                </a:solidFill>
                <a:latin typeface="Arial"/>
              </a:rPr>
              <a:t>The ANN takes time t as input and predicts the three system states (x, y, z).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011680"/>
            <a:ext cx="1298448" cy="1298448"/>
          </a:xfrm>
          <a:prstGeom prst="round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2212848"/>
            <a:ext cx="1152144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Reference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511296"/>
            <a:ext cx="1371600" cy="8046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B36"/>
                </a:solidFill>
                <a:latin typeface="Arial"/>
              </a:rPr>
              <a:t>RK4 / high-accuracy solver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B36"/>
                </a:solidFill>
                <a:latin typeface="Arial"/>
              </a:rPr>
              <a:t>generates ground truth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73952" y="2011680"/>
            <a:ext cx="1298448" cy="1298448"/>
          </a:xfrm>
          <a:prstGeom prst="round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2212848"/>
            <a:ext cx="1152144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ANN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Candidates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511296"/>
            <a:ext cx="1371600" cy="8046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B36"/>
                </a:solidFill>
                <a:latin typeface="Arial"/>
              </a:rPr>
              <a:t>Vary layers, neurons,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B36"/>
                </a:solidFill>
                <a:latin typeface="Arial"/>
              </a:rPr>
              <a:t>activations, optimizers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2011680"/>
            <a:ext cx="1298448" cy="1298448"/>
          </a:xfrm>
          <a:prstGeom prst="roundRect">
            <a:avLst/>
          </a:prstGeom>
          <a:solidFill>
            <a:srgbClr val="B85841"/>
          </a:solidFill>
          <a:ln w="15240">
            <a:solidFill>
              <a:srgbClr val="B85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2212848"/>
            <a:ext cx="1152144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Metric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3511296"/>
            <a:ext cx="1371600" cy="8046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B36"/>
                </a:solidFill>
                <a:latin typeface="Arial"/>
              </a:rPr>
              <a:t>MSE, convergence,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B36"/>
                </a:solidFill>
                <a:latin typeface="Arial"/>
              </a:rPr>
              <a:t>parameters, inference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12096" y="2011680"/>
            <a:ext cx="1298448" cy="1298448"/>
          </a:xfrm>
          <a:prstGeom prst="roundRect">
            <a:avLst/>
          </a:prstGeom>
          <a:solidFill>
            <a:srgbClr val="6E8466"/>
          </a:solidFill>
          <a:ln w="15240">
            <a:solidFill>
              <a:srgbClr val="6E8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5248" y="2212848"/>
            <a:ext cx="1152144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Best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6376" y="3511296"/>
            <a:ext cx="1371600" cy="8046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B36"/>
                </a:solidFill>
                <a:latin typeface="Arial"/>
              </a:rPr>
              <a:t>Select the most accurate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B36"/>
                </a:solidFill>
                <a:latin typeface="Arial"/>
              </a:rPr>
              <a:t>and most practical model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53328" y="2651760"/>
            <a:ext cx="365760" cy="0"/>
          </a:xfrm>
          <a:prstGeom prst="line">
            <a:avLst/>
          </a:prstGeom>
          <a:ln w="31750">
            <a:solidFill>
              <a:srgbClr val="D4A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772400" y="2651760"/>
            <a:ext cx="365760" cy="0"/>
          </a:xfrm>
          <a:prstGeom prst="line">
            <a:avLst/>
          </a:prstGeom>
          <a:ln w="31750">
            <a:solidFill>
              <a:srgbClr val="D4A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491472" y="2651760"/>
            <a:ext cx="365760" cy="0"/>
          </a:xfrm>
          <a:prstGeom prst="line">
            <a:avLst/>
          </a:prstGeom>
          <a:ln w="31750">
            <a:solidFill>
              <a:srgbClr val="D4A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709160" y="1051560"/>
            <a:ext cx="62636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0233C"/>
                </a:solidFill>
                <a:latin typeface="Arial"/>
              </a:rPr>
              <a:t>Experimental 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71"/>
                </a:solidFill>
                <a:latin typeface="Arial"/>
              </a:rPr>
              <a:t>Baseline idea grounded in the Lorenz-1960 setup described in the project literature summary.</a:t>
            </a:r>
          </a:p>
        </p:txBody>
      </p:sp>
      <p:pic>
        <p:nvPicPr>
          <p:cNvPr id="33" name="Picture 32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5989320"/>
            <a:ext cx="685800" cy="6250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146304"/>
            <a:ext cx="566928" cy="29260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566928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"/>
            <a:ext cx="7955279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Architecture Search and Evaluation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109728"/>
            <a:ext cx="24688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FYDP-I Proposal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914400"/>
            <a:ext cx="534924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" y="914400"/>
            <a:ext cx="109728" cy="5166360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060704"/>
            <a:ext cx="500176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Search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426464"/>
            <a:ext cx="5001768" cy="45079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600200"/>
            <a:ext cx="4663440" cy="420624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212B36"/>
                </a:solidFill>
                <a:latin typeface="Arial"/>
              </a:rPr>
              <a:t>Hidden layers: 2 to 6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212B36"/>
                </a:solidFill>
                <a:latin typeface="Arial"/>
              </a:rPr>
              <a:t>Neurons per layer: 20 to 100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212B36"/>
                </a:solidFill>
                <a:latin typeface="Arial"/>
              </a:rPr>
              <a:t>Activations: tanh, ReLU, sigmoid, GELU, Swish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212B36"/>
                </a:solidFill>
                <a:latin typeface="Arial"/>
              </a:rPr>
              <a:t>Optimizers: Adam, L-BFGS, staged Adam to L-BFGS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212B36"/>
                </a:solidFill>
                <a:latin typeface="Arial"/>
              </a:rPr>
              <a:t>Training target: numerical reference trajectory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914400"/>
            <a:ext cx="521208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914400"/>
            <a:ext cx="109728" cy="2468880"/>
          </a:xfrm>
          <a:prstGeom prst="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060704"/>
            <a:ext cx="486460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Evaluation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1426464"/>
            <a:ext cx="4864608" cy="18105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Mean squared error against reference solution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Convergence speed during training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Parameter count and inference time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Stability across repeated runs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57600"/>
            <a:ext cx="521208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657600"/>
            <a:ext cx="109728" cy="2423160"/>
          </a:xfrm>
          <a:prstGeom prst="rect">
            <a:avLst/>
          </a:prstGeom>
          <a:solidFill>
            <a:srgbClr val="B85841"/>
          </a:solidFill>
          <a:ln w="15240">
            <a:solidFill>
              <a:srgbClr val="B85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3096" y="3803904"/>
            <a:ext cx="486460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Comparison Anchors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4169664"/>
            <a:ext cx="4864608" cy="1764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Classical numerical reference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Published Lorenz-1960 PINN / DeepONet context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Literature-style ANN baseline from differential-equation studies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71"/>
                </a:solidFill>
                <a:latin typeface="Arial"/>
              </a:rPr>
              <a:t>Search ranges follow the current FYDP research structure plan.</a:t>
            </a:r>
          </a:p>
        </p:txBody>
      </p:sp>
      <p:pic>
        <p:nvPicPr>
          <p:cNvPr id="22" name="Picture 21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5989320"/>
            <a:ext cx="685800" cy="6250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146304"/>
            <a:ext cx="566928" cy="29260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566928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"/>
            <a:ext cx="7955279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Expected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109728"/>
            <a:ext cx="24688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FYDP-I Proposal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8813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12B36"/>
                </a:solidFill>
                <a:latin typeface="Arial"/>
              </a:rPr>
              <a:t>This is a proposal-stage study, so the contribution is framed as a benchmark and positioning contribution rather than a claim of final performance.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83080"/>
            <a:ext cx="52578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984248"/>
            <a:ext cx="512064" cy="512064"/>
          </a:xfrm>
          <a:prstGeom prst="round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84248"/>
            <a:ext cx="512064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947672"/>
            <a:ext cx="4160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12B36"/>
                </a:solidFill>
                <a:latin typeface="Arial"/>
              </a:rPr>
              <a:t>Problem-Focused Benchmark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50008"/>
            <a:ext cx="416052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A clean benchmark for plain ANN solution approximation on the Lorenz-1960 system.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783080"/>
            <a:ext cx="52578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984248"/>
            <a:ext cx="512064" cy="512064"/>
          </a:xfrm>
          <a:prstGeom prst="round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84248"/>
            <a:ext cx="512064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1947672"/>
            <a:ext cx="4160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12B36"/>
                </a:solidFill>
                <a:latin typeface="Arial"/>
              </a:rPr>
              <a:t>Architecture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2350008"/>
            <a:ext cx="416052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Direct evidence about how depth, width, and activation affect approximation quality.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77639"/>
            <a:ext cx="52578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4178807"/>
            <a:ext cx="512064" cy="512064"/>
          </a:xfrm>
          <a:prstGeom prst="roundRect">
            <a:avLst/>
          </a:prstGeom>
          <a:solidFill>
            <a:srgbClr val="B85841"/>
          </a:solidFill>
          <a:ln w="15240">
            <a:solidFill>
              <a:srgbClr val="B85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78807"/>
            <a:ext cx="512064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142231"/>
            <a:ext cx="4160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12B36"/>
                </a:solidFill>
                <a:latin typeface="Arial"/>
              </a:rPr>
              <a:t>Methodological Positioning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544567"/>
            <a:ext cx="416052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A practical comparison point against PINN-oriented and operator-learning literature.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3977639"/>
            <a:ext cx="52578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9360" y="4178807"/>
            <a:ext cx="512064" cy="512064"/>
          </a:xfrm>
          <a:prstGeom prst="roundRect">
            <a:avLst/>
          </a:prstGeom>
          <a:solidFill>
            <a:srgbClr val="6E8466"/>
          </a:solidFill>
          <a:ln w="15240">
            <a:solidFill>
              <a:srgbClr val="6E8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178807"/>
            <a:ext cx="512064" cy="51206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4142231"/>
            <a:ext cx="4160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12B36"/>
                </a:solidFill>
                <a:latin typeface="Arial"/>
              </a:rPr>
              <a:t>Reusable FYDP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4544567"/>
            <a:ext cx="416052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A reproducible pipeline for data generation, training, evaluation, and report writing.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71"/>
                </a:solidFill>
                <a:latin typeface="Arial"/>
              </a:rPr>
              <a:t>Contribution statements reflect the current proposal scope, not final experimental claims.</a:t>
            </a:r>
          </a:p>
        </p:txBody>
      </p:sp>
      <p:pic>
        <p:nvPicPr>
          <p:cNvPr id="30" name="Picture 29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5989320"/>
            <a:ext cx="685800" cy="6250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146304"/>
            <a:ext cx="566928" cy="29260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566928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"/>
            <a:ext cx="7955279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Deliverables and Success Criteria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109728"/>
            <a:ext cx="24688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FYDP-I Proposal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05840"/>
            <a:ext cx="4983480" cy="4983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005840"/>
            <a:ext cx="109728" cy="4983480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152144"/>
            <a:ext cx="463600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Expected 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1517904"/>
            <a:ext cx="4636008" cy="43251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26071"/>
                </a:solidFill>
                <a:latin typeface="Arial"/>
              </a:rPr>
              <a:t>Reference-solution generation pipeline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26071"/>
                </a:solidFill>
                <a:latin typeface="Arial"/>
              </a:rPr>
              <a:t>Comparable ANN training scripts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26071"/>
                </a:solidFill>
                <a:latin typeface="Arial"/>
              </a:rPr>
              <a:t>Tables and plots for architecture comparison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26071"/>
                </a:solidFill>
                <a:latin typeface="Arial"/>
              </a:rPr>
              <a:t>Best-model recommendation with justification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26071"/>
                </a:solidFill>
                <a:latin typeface="Arial"/>
              </a:rPr>
              <a:t>Thesis-ready material for FYDP report chapters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005840"/>
            <a:ext cx="544068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005840"/>
            <a:ext cx="109728" cy="1965960"/>
          </a:xfrm>
          <a:prstGeom prst="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1152144"/>
            <a:ext cx="509320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Validation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517904"/>
            <a:ext cx="5093208" cy="1307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A useful model should reduce approximation error while remaining simpler to train and reuse than a physics-informed alternative.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3246120"/>
            <a:ext cx="544068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3246120"/>
            <a:ext cx="109728" cy="274320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3392424"/>
            <a:ext cx="509320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What Success Looks Like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758184"/>
            <a:ext cx="5093208" cy="2084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One architecture clearly outperforms the others on MSE and stability.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The trade-off between simplicity and accuracy is explicitly explained.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The project yields a defensible recommendation for later FYDP phases.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71"/>
                </a:solidFill>
                <a:latin typeface="Arial"/>
              </a:rPr>
              <a:t>Success is defined by evidence and defensible comparison, not by assuming ANN superiority in advance.</a:t>
            </a:r>
          </a:p>
        </p:txBody>
      </p:sp>
      <p:pic>
        <p:nvPicPr>
          <p:cNvPr id="21" name="Picture 20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5989320"/>
            <a:ext cx="685800" cy="6250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146304"/>
            <a:ext cx="566928" cy="29260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566928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"/>
            <a:ext cx="7955279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109728"/>
            <a:ext cx="24688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FYDP-I Proposal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86868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12B36"/>
                </a:solidFill>
                <a:latin typeface="Arial"/>
              </a:rPr>
              <a:t>The proposal naturally splits into a framing phase and an implementation phase.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554480"/>
            <a:ext cx="50749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0749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554480"/>
            <a:ext cx="5074920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074920" cy="566928"/>
          </a:xfrm>
          <a:prstGeom prst="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1682496"/>
            <a:ext cx="22860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FYDP-I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82496"/>
            <a:ext cx="22860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FYDP-II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2395728"/>
            <a:ext cx="4526280" cy="640080"/>
          </a:xfrm>
          <a:prstGeom prst="roundRect">
            <a:avLst/>
          </a:prstGeom>
          <a:solidFill>
            <a:srgbClr val="F6F3EB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2542032"/>
            <a:ext cx="4114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2B36"/>
                </a:solidFill>
                <a:latin typeface="Arial"/>
              </a:rPr>
              <a:t>Problem framing and supervisor alignment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236976"/>
            <a:ext cx="4526280" cy="640080"/>
          </a:xfrm>
          <a:prstGeom prst="roundRect">
            <a:avLst/>
          </a:prstGeom>
          <a:solidFill>
            <a:srgbClr val="F6F3EB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383280"/>
            <a:ext cx="4114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2B36"/>
                </a:solidFill>
                <a:latin typeface="Arial"/>
              </a:rPr>
              <a:t>Literature review and gap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4078224"/>
            <a:ext cx="4526280" cy="640080"/>
          </a:xfrm>
          <a:prstGeom prst="roundRect">
            <a:avLst/>
          </a:prstGeom>
          <a:solidFill>
            <a:srgbClr val="F6F3EB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224528"/>
            <a:ext cx="4114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2B36"/>
                </a:solidFill>
                <a:latin typeface="Arial"/>
              </a:rPr>
              <a:t>Final proposal narrative and chapter drafting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4919472"/>
            <a:ext cx="4526280" cy="640080"/>
          </a:xfrm>
          <a:prstGeom prst="roundRect">
            <a:avLst/>
          </a:prstGeom>
          <a:solidFill>
            <a:srgbClr val="F6F3EB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065776"/>
            <a:ext cx="4114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2B36"/>
                </a:solidFill>
                <a:latin typeface="Arial"/>
              </a:rPr>
              <a:t>Experiment design and baseline definition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10528" y="2395728"/>
            <a:ext cx="4526280" cy="640080"/>
          </a:xfrm>
          <a:prstGeom prst="roundRect">
            <a:avLst/>
          </a:prstGeom>
          <a:solidFill>
            <a:srgbClr val="F6F3EB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2542032"/>
            <a:ext cx="4114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2B36"/>
                </a:solidFill>
                <a:latin typeface="Arial"/>
              </a:rPr>
              <a:t>Implement reference solver and ANN pipeline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10528" y="3236976"/>
            <a:ext cx="4526280" cy="640080"/>
          </a:xfrm>
          <a:prstGeom prst="roundRect">
            <a:avLst/>
          </a:prstGeom>
          <a:solidFill>
            <a:srgbClr val="F6F3EB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3383280"/>
            <a:ext cx="4114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2B36"/>
                </a:solidFill>
                <a:latin typeface="Arial"/>
              </a:rPr>
              <a:t>Run architecture experiments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10528" y="4078224"/>
            <a:ext cx="4526280" cy="640080"/>
          </a:xfrm>
          <a:prstGeom prst="roundRect">
            <a:avLst/>
          </a:prstGeom>
          <a:solidFill>
            <a:srgbClr val="F6F3EB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4224528"/>
            <a:ext cx="4114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2B36"/>
                </a:solidFill>
                <a:latin typeface="Arial"/>
              </a:rPr>
              <a:t>Analyze trade-offs and compare baselines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10528" y="4919472"/>
            <a:ext cx="4526280" cy="640080"/>
          </a:xfrm>
          <a:prstGeom prst="roundRect">
            <a:avLst/>
          </a:prstGeom>
          <a:solidFill>
            <a:srgbClr val="F6F3EB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7688" y="5065776"/>
            <a:ext cx="4114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2B36"/>
                </a:solidFill>
                <a:latin typeface="Arial"/>
              </a:rPr>
              <a:t>Write results, discussion, and final recommendations</a:t>
            </a:r>
          </a:p>
        </p:txBody>
      </p:sp>
      <p:sp>
        <p:nvSpPr>
          <p:cNvPr id="31" name="Chevron 30"/>
          <p:cNvSpPr/>
          <p:nvPr/>
        </p:nvSpPr>
        <p:spPr>
          <a:xfrm>
            <a:off x="5715000" y="3246120"/>
            <a:ext cx="384048" cy="841248"/>
          </a:xfrm>
          <a:prstGeom prst="chevron">
            <a:avLst/>
          </a:prstGeom>
          <a:solidFill>
            <a:srgbClr val="D4A72C"/>
          </a:solidFill>
          <a:ln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71"/>
                </a:solidFill>
                <a:latin typeface="Arial"/>
              </a:rPr>
              <a:t>Roadmap based on the current FYDP-I / FYDP-II structure plan.</a:t>
            </a:r>
          </a:p>
        </p:txBody>
      </p:sp>
      <p:pic>
        <p:nvPicPr>
          <p:cNvPr id="33" name="Picture 32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5989320"/>
            <a:ext cx="685800" cy="6250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713232"/>
            <a:ext cx="11018520" cy="5394960"/>
          </a:xfrm>
          <a:prstGeom prst="roundRect">
            <a:avLst/>
          </a:prstGeom>
          <a:noFill/>
          <a:ln w="3810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61872"/>
            <a:ext cx="786384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4A72C"/>
                </a:solidFill>
                <a:latin typeface="Arial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9326880" cy="1508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This research proposes a focused and defensible question: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what is the most effective plain ANN architecture for solving the Lorenz-1960 ODE system?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3794760"/>
            <a:ext cx="8595360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6F3EB"/>
                </a:solidFill>
                <a:latin typeface="Arial"/>
              </a:rPr>
              <a:t>If the evidence is strong, the project delivers a useful surrogate-model baseline.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6F3EB"/>
                </a:solidFill>
                <a:latin typeface="Arial"/>
              </a:rPr>
              <a:t>If the evidence is weak, it still justifies why more structured neural solvers are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193792"/>
            <a:ext cx="36576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4A72C"/>
                </a:solidFill>
                <a:latin typeface="Arial"/>
              </a:rPr>
              <a:t>Supervisor discussion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5486400"/>
            <a:ext cx="7498079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6F3EB"/>
                </a:solidFill>
                <a:latin typeface="Arial"/>
              </a:rPr>
              <a:t>model input choice, constraint strategy, and architecture search scope</a:t>
            </a:r>
          </a:p>
        </p:txBody>
      </p:sp>
      <p:pic>
        <p:nvPicPr>
          <p:cNvPr id="9" name="Picture 8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4937760"/>
            <a:ext cx="1097280" cy="1000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Prepared from the current FYDP research notes and proposal draft.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Lorenz-1960 ANN Research Proposal</dc:title>
  <dc:subject>FYDP-I proposal slides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