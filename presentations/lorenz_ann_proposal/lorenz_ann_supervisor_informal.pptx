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" y="5413248"/>
            <a:ext cx="7543800" cy="1719072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Solving the Lorenz-1960 ODE System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Using ANN and Identifying the Optimal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95728"/>
            <a:ext cx="731520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6F3EB"/>
                </a:solidFill>
                <a:latin typeface="Arial"/>
              </a:rPr>
              <a:t>Informal research proposal for supervisor discussion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3127248"/>
            <a:ext cx="3931920" cy="0"/>
          </a:xfrm>
          <a:prstGeom prst="line">
            <a:avLst/>
          </a:prstGeom>
          <a:ln w="31750">
            <a:solidFill>
              <a:srgbClr val="D4A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3310128"/>
            <a:ext cx="59436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6F3EB"/>
                </a:solidFill>
                <a:latin typeface="Arial"/>
              </a:rPr>
              <a:t>Department of CSE, United International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584448"/>
            <a:ext cx="49377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6F3EB"/>
                </a:solidFill>
                <a:latin typeface="Arial"/>
              </a:rPr>
              <a:t>FYDP research proposal meeting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709160"/>
            <a:ext cx="7955279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956048"/>
            <a:ext cx="7452360" cy="5852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0233C"/>
                </a:solidFill>
                <a:latin typeface="Arial"/>
              </a:rPr>
              <a:t>Problem statement: Can a plain ANN learn the Lorenz-1960 solution accurately, and which ANN architecture works best when compared against reliable numerical and PINN-style references?</a:t>
            </a:r>
          </a:p>
        </p:txBody>
      </p:sp>
      <p:pic>
        <p:nvPicPr>
          <p:cNvPr id="11" name="Picture 10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5321808"/>
            <a:ext cx="1078992" cy="983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6373368"/>
            <a:ext cx="22402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6F3EB"/>
                </a:solidFill>
                <a:latin typeface="Arial"/>
              </a:rPr>
              <a:t>March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77240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09728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Informal Supervisor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77824"/>
            <a:ext cx="10881360" cy="4023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12B36"/>
                </a:solidFill>
                <a:latin typeface="Arial"/>
              </a:rPr>
              <a:t>Ordinary differential equations describe the evolution of many physical systems, and the Lorenz-1960 model is a compact nonlinear benchmark that is already used in the literature.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645920"/>
            <a:ext cx="352044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645920"/>
            <a:ext cx="109728" cy="356616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792224"/>
            <a:ext cx="317296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ODE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157984"/>
            <a:ext cx="3172968" cy="2907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ODEs appear in weather dynamics, fluid interaction, control systems, and many other time-evolving physical processes.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4" y="1645920"/>
            <a:ext cx="352044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4" y="1645920"/>
            <a:ext cx="109728" cy="356616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792224"/>
            <a:ext cx="317296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Lorenz-1960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157984"/>
            <a:ext cx="3172968" cy="2907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This project uses the three interdependent Lorenz-1960 equations from Paper 1 Section 4.2 with k=2, l=1 and fixed initial conditions.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45920"/>
            <a:ext cx="329184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645920"/>
            <a:ext cx="109728" cy="3566160"/>
          </a:xfrm>
          <a:prstGeom prst="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792224"/>
            <a:ext cx="294436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Reference Literature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157984"/>
            <a:ext cx="2944368" cy="2907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Paper 1 provides the benchmark problem, Paper 2 positions ANN-based differential equation solvers, and Paper 3 gives a contrasting Neural ODE viewpoint.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Background slide keeps the research grounded in the benchmark problem and literature context.</a:t>
            </a:r>
          </a:p>
        </p:txBody>
      </p:sp>
      <p:pic>
        <p:nvPicPr>
          <p:cNvPr id="22" name="Picture 21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5943600"/>
            <a:ext cx="713232" cy="650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77240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09728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Informal Supervisor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987552"/>
            <a:ext cx="34747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987552"/>
            <a:ext cx="109728" cy="452628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133856"/>
            <a:ext cx="312724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Why Numerical Solvers Are Not the Full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1499616"/>
            <a:ext cx="3127248" cy="3867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Classical methods such as Runge-Kutta are accurate, but they solve the system again for each experiment and do not directly produce a learned surrogate.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987552"/>
            <a:ext cx="34747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987552"/>
            <a:ext cx="109728" cy="452628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133856"/>
            <a:ext cx="312724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Why ANN Is Interesting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499616"/>
            <a:ext cx="3127248" cy="3867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A trained ANN can approximate the solution map quickly after training, which is attractive when repeated evaluation or future extension to multiple settings is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987552"/>
            <a:ext cx="3456432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987552"/>
            <a:ext cx="109728" cy="4526280"/>
          </a:xfrm>
          <a:prstGeom prst="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133856"/>
            <a:ext cx="310896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Why This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1499616"/>
            <a:ext cx="3108960" cy="3867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Lorenz-1960 is small enough to study carefully but nonlinear enough to make architecture choice and solver comparison meaningful.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669280"/>
            <a:ext cx="1046988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779008"/>
            <a:ext cx="10058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0233C"/>
                </a:solidFill>
                <a:latin typeface="Arial"/>
              </a:rPr>
              <a:t>Motivation in one line: build a reliable numerical baseline now, then use it to judge which ANN architecture is actually worth trusting later.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The motivation is practical: accuracy, reusability, and future comparison on a fixed benchmark.</a:t>
            </a:r>
          </a:p>
        </p:txBody>
      </p:sp>
      <p:pic>
        <p:nvPicPr>
          <p:cNvPr id="23" name="Picture 22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5943600"/>
            <a:ext cx="713232" cy="650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77240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Expected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09728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Informal Supervisor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521208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64208"/>
            <a:ext cx="530352" cy="530352"/>
          </a:xfrm>
          <a:prstGeom prst="round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64208"/>
            <a:ext cx="530352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1627632"/>
            <a:ext cx="40233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12B36"/>
                </a:solidFill>
                <a:latin typeface="Arial"/>
              </a:rPr>
              <a:t>Problem-Focused 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2029968"/>
            <a:ext cx="406908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A clean FYDP benchmark centered on the Lorenz-1960 ODE system rather than a generic ANN demo.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63040"/>
            <a:ext cx="521208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664208"/>
            <a:ext cx="530352" cy="530352"/>
          </a:xfrm>
          <a:prstGeom prst="round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64208"/>
            <a:ext cx="530352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627632"/>
            <a:ext cx="40233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12B36"/>
                </a:solidFill>
                <a:latin typeface="Arial"/>
              </a:rPr>
              <a:t>Architecture Study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029968"/>
            <a:ext cx="406908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A research path aimed at discovering how depth, width, activation, and training strategy affect solution quality.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67328"/>
            <a:ext cx="521208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3968496"/>
            <a:ext cx="530352" cy="530352"/>
          </a:xfrm>
          <a:prstGeom prst="round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68496"/>
            <a:ext cx="530352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3931920"/>
            <a:ext cx="40233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12B36"/>
                </a:solidFill>
                <a:latin typeface="Arial"/>
              </a:rPr>
              <a:t>Comparison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19" y="4334256"/>
            <a:ext cx="406908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A common evaluation frame for numerical solvers, plain ANN, and PINN-style references on the same problem.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767328"/>
            <a:ext cx="521208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3968496"/>
            <a:ext cx="530352" cy="530352"/>
          </a:xfrm>
          <a:prstGeom prst="roundRect">
            <a:avLst/>
          </a:prstGeom>
          <a:solidFill>
            <a:srgbClr val="6E8466"/>
          </a:solidFill>
          <a:ln w="15240">
            <a:solidFill>
              <a:srgbClr val="6E8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968496"/>
            <a:ext cx="530352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931920"/>
            <a:ext cx="40233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12B36"/>
                </a:solidFill>
                <a:latin typeface="Arial"/>
              </a:rPr>
              <a:t>Reusable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334256"/>
            <a:ext cx="406908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A reproducible pipeline for literature review, solver implementation, validation, and later ANN experiments.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Contribution is framed as a benchmark and methodology contribution, not an overclaimed final result.</a:t>
            </a:r>
          </a:p>
        </p:txBody>
      </p:sp>
      <p:pic>
        <p:nvPicPr>
          <p:cNvPr id="29" name="Picture 28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5943600"/>
            <a:ext cx="713232" cy="650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77240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How Is This a Novel Problem?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09728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Informal Supervisor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96112"/>
            <a:ext cx="106984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12B36"/>
                </a:solidFill>
                <a:latin typeface="Arial"/>
              </a:rPr>
              <a:t>The novelty is not the existence of ANN solvers alone. The novelty is the specific benchmark, comparison frame, and architecture question being asked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645920"/>
            <a:ext cx="352044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" y="1645920"/>
            <a:ext cx="109728" cy="4023360"/>
          </a:xfrm>
          <a:prstGeom prst="rect">
            <a:avLst/>
          </a:prstGeom>
          <a:solidFill>
            <a:srgbClr val="526071"/>
          </a:solidFill>
          <a:ln w="15240">
            <a:solidFill>
              <a:srgbClr val="526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792224"/>
            <a:ext cx="317296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What Existing Work Already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157984"/>
            <a:ext cx="3172968" cy="33649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26071"/>
                </a:solidFill>
                <a:latin typeface="Arial"/>
              </a:rPr>
              <a:t>Paper 1 solves Lorenz-1960 with DeepONet-style operator learning. Paper 2 reviews ANN-based differential equation methods. Paper 3 introduces Neural ODEs as a different paradigm.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645920"/>
            <a:ext cx="352044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645920"/>
            <a:ext cx="109728" cy="402336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1792224"/>
            <a:ext cx="317296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What Is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157984"/>
            <a:ext cx="3172968" cy="33649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The literature does not clearly answer which plain ANN architecture is best for solving the Lorenz-1960 benchmark under a unified experimental setup.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645920"/>
            <a:ext cx="315468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1645920"/>
            <a:ext cx="109728" cy="4023360"/>
          </a:xfrm>
          <a:prstGeom prst="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792224"/>
            <a:ext cx="28072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Why That Gap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57984"/>
            <a:ext cx="2807208" cy="33649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26071"/>
                </a:solidFill>
                <a:latin typeface="Arial"/>
              </a:rPr>
              <a:t>Without this architecture-level evidence, it is hard to justify when a plain ANN is sufficient and when a more structured neural solver is necessary.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Novelty comes from the research question and benchmark framing, not from claiming ANN-for-ODE is entirely new.</a:t>
            </a:r>
          </a:p>
        </p:txBody>
      </p:sp>
      <p:pic>
        <p:nvPicPr>
          <p:cNvPr id="22" name="Picture 21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5943600"/>
            <a:ext cx="713232" cy="650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77240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How Is This a Complex Engineering Problem?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09728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Informal Supervisor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932688"/>
            <a:ext cx="525780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932688"/>
            <a:ext cx="109728" cy="507492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078992"/>
            <a:ext cx="491032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Why It Is Complex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1444752"/>
            <a:ext cx="4910328" cy="44165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071"/>
                </a:solidFill>
                <a:latin typeface="Arial"/>
              </a:rPr>
              <a:t>The problem combines mathematical modeling, numerical accuracy, software implementation, model evaluation, and design trade-off decisions. There is no single closed-form shortcut that solves all of these at once.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1234440"/>
            <a:ext cx="4846320" cy="4389120"/>
          </a:xfrm>
          <a:prstGeom prst="rect">
            <a:avLst/>
          </a:prstGeom>
          <a:noFill/>
        </p:spPr>
        <p:txBody>
          <a:bodyPr wrap="square" lIns="45720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>
                <a:solidFill>
                  <a:srgbClr val="212B36"/>
                </a:solidFill>
                <a:latin typeface="Arial"/>
              </a:rPr>
              <a:t>The Lorenz-1960 system is nonlinear and coupled, so small implementation mistakes can propagate across all three states.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>
                <a:solidFill>
                  <a:srgbClr val="212B36"/>
                </a:solidFill>
                <a:latin typeface="Arial"/>
              </a:rPr>
              <a:t>A trustworthy ANN study needs a validated numerical reference first, otherwise model claims are weak.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>
                <a:solidFill>
                  <a:srgbClr val="212B36"/>
                </a:solidFill>
                <a:latin typeface="Arial"/>
              </a:rPr>
              <a:t>Architecture choice creates a multi-factor design problem involving depth, width, activation, optimizer, and stability.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>
                <a:solidFill>
                  <a:srgbClr val="212B36"/>
                </a:solidFill>
                <a:latin typeface="Arial"/>
              </a:rPr>
              <a:t>The final answer must balance accuracy, computational cost, reproducibility, and clarity of comparison.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5358384"/>
            <a:ext cx="489204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5477256"/>
            <a:ext cx="452628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Engineering complexity = model design + solver validation + evidence-based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This slide is tuned for supervisor review: it explains why the task qualifies as an engineering problem, not just a coding exercise.</a:t>
            </a:r>
          </a:p>
        </p:txBody>
      </p:sp>
      <p:pic>
        <p:nvPicPr>
          <p:cNvPr id="16" name="Picture 15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5943600"/>
            <a:ext cx="713232" cy="650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" y="146304"/>
            <a:ext cx="566928" cy="292608"/>
          </a:xfrm>
          <a:prstGeom prst="roundRect">
            <a:avLst/>
          </a:prstGeom>
          <a:solidFill>
            <a:srgbClr val="D4A72C"/>
          </a:solidFill>
          <a:ln w="1524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46304"/>
            <a:ext cx="566928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33C"/>
                </a:solidFill>
                <a:latin typeface="Arial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00584"/>
            <a:ext cx="777240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FYDP-I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09728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Informal Supervisor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914400"/>
            <a:ext cx="50749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914400"/>
            <a:ext cx="109728" cy="512064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060704"/>
            <a:ext cx="472744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What FYDP-I Will 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1426464"/>
            <a:ext cx="4727448" cy="44622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071"/>
                </a:solidFill>
                <a:latin typeface="Arial"/>
              </a:rPr>
              <a:t>Complete the literature review.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071"/>
                </a:solidFill>
                <a:latin typeface="Arial"/>
              </a:rPr>
              <a:t>Implement the Lorenz-1960 equations using a Python ODE solver library.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071"/>
                </a:solidFill>
                <a:latin typeface="Arial"/>
              </a:rPr>
              <a:t>Implement a custom Runge-Kutta baseline.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6071"/>
                </a:solidFill>
                <a:latin typeface="Arial"/>
              </a:rPr>
              <a:t>Optimize and validate the numerical reference outputs for later ANN comparison.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914400"/>
            <a:ext cx="52120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914400"/>
            <a:ext cx="109728" cy="2286000"/>
          </a:xfrm>
          <a:prstGeom prst="rect">
            <a:avLst/>
          </a:prstGeom>
          <a:solidFill>
            <a:srgbClr val="166C7A"/>
          </a:solidFill>
          <a:ln w="15240">
            <a:solidFill>
              <a:srgbClr val="16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060704"/>
            <a:ext cx="48646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Immediate 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1426464"/>
            <a:ext cx="4864608" cy="16276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Literature review matrix and gap analysis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Verified numerical solution plots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Reusable solver code and baseline evaluation notes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520440"/>
            <a:ext cx="5212080" cy="2514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520440"/>
            <a:ext cx="109728" cy="2514600"/>
          </a:xfrm>
          <a:prstGeom prst="rect">
            <a:avLst/>
          </a:prstGeom>
          <a:solidFill>
            <a:srgbClr val="B85841"/>
          </a:solidFill>
          <a:ln w="15240">
            <a:solidFill>
              <a:srgbClr val="B85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3666744"/>
            <a:ext cx="4864608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12B36"/>
                </a:solidFill>
                <a:latin typeface="Arial"/>
              </a:rPr>
              <a:t>What Is Not Promised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4032504"/>
            <a:ext cx="4864608" cy="18562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Final ANN architecture optimization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Full ANN versus PINN experiment set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26071"/>
                </a:solidFill>
                <a:latin typeface="Arial"/>
              </a:rPr>
              <a:t>Final recommendation across all solver families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71"/>
                </a:solidFill>
                <a:latin typeface="Arial"/>
              </a:rPr>
              <a:t>FYDP-I is positioned as a strong foundation phase: literature plus validated numerical benchmark.</a:t>
            </a:r>
          </a:p>
        </p:txBody>
      </p:sp>
      <p:pic>
        <p:nvPicPr>
          <p:cNvPr id="21" name="Picture 20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5943600"/>
            <a:ext cx="713232" cy="650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C"/>
          </a:solidFill>
          <a:ln w="15240">
            <a:solidFill>
              <a:srgbClr val="10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713232"/>
            <a:ext cx="11018520" cy="5394960"/>
          </a:xfrm>
          <a:prstGeom prst="roundRect">
            <a:avLst/>
          </a:prstGeom>
          <a:noFill/>
          <a:ln w="3810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88720"/>
            <a:ext cx="7680960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4A72C"/>
                </a:solidFill>
                <a:latin typeface="Arial"/>
              </a:rPr>
              <a:t>Discussion /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9509760" cy="1554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rial"/>
              </a:rPr>
              <a:t>The proposal is simple to state but strong enough to grow: first validate the Lorenz-1960 numerical benchmark, then use that benchmark to study and compare ANN architectures in later phases.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840480"/>
            <a:ext cx="8641080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6F3EB"/>
                </a:solidFill>
                <a:latin typeface="Arial"/>
              </a:rPr>
              <a:t>Supervisor feedback needed on FYDP-I boundary, preferred baseline solver, and how broad the later ANN search should 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230368"/>
            <a:ext cx="34747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4A72C"/>
                </a:solidFill>
                <a:latin typeface="Arial"/>
              </a:rPr>
              <a:t>Suggested discussion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5486400"/>
            <a:ext cx="81381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6F3EB"/>
                </a:solidFill>
                <a:latin typeface="Arial"/>
              </a:rPr>
              <a:t>scope approval, numerical baseline standard, and whether a small ANN prototype is needed in FYDP-I</a:t>
            </a:r>
          </a:p>
        </p:txBody>
      </p:sp>
      <p:pic>
        <p:nvPicPr>
          <p:cNvPr id="9" name="Picture 8" descr="u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846320"/>
            <a:ext cx="1115568" cy="10167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419088"/>
            <a:ext cx="110642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Prepared from current FYDP notes, literature summary, and supervisor-facing scope clarification.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Informal Supervisor Research Proposal Deck</dc:title>
  <dc:subject>Lorenz-1960 ANN proposal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