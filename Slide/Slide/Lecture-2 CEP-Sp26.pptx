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95" r:id="rId3"/>
    <p:sldId id="262" r:id="rId4"/>
    <p:sldId id="296" r:id="rId5"/>
    <p:sldId id="299" r:id="rId6"/>
    <p:sldId id="265" r:id="rId7"/>
    <p:sldId id="266" r:id="rId8"/>
    <p:sldId id="267" r:id="rId9"/>
    <p:sldId id="268" r:id="rId10"/>
    <p:sldId id="269" r:id="rId11"/>
    <p:sldId id="270" r:id="rId12"/>
    <p:sldId id="300" r:id="rId13"/>
    <p:sldId id="301" r:id="rId14"/>
    <p:sldId id="302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303" r:id="rId30"/>
    <p:sldId id="292" r:id="rId31"/>
  </p:sldIdLst>
  <p:sldSz cx="4610100" cy="346075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202" d="100"/>
          <a:sy n="202" d="100"/>
        </p:scale>
        <p:origin x="2010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l">
              <a:defRPr sz="24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604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r">
              <a:defRPr sz="2400"/>
            </a:lvl1pPr>
          </a:lstStyle>
          <a:p>
            <a:fld id="{97A1F6A1-03CD-473F-98E5-D1D154E34B27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l">
              <a:defRPr sz="24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604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r">
              <a:defRPr sz="2400"/>
            </a:lvl1pPr>
          </a:lstStyle>
          <a:p>
            <a:fld id="{178DD459-0192-412F-9AC9-F0B881EF2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64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l">
              <a:defRPr sz="24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6041" y="0"/>
            <a:ext cx="4027160" cy="350521"/>
          </a:xfrm>
          <a:prstGeom prst="rect">
            <a:avLst/>
          </a:prstGeom>
        </p:spPr>
        <p:txBody>
          <a:bodyPr vert="horz" lIns="184745" tIns="92373" rIns="184745" bIns="92373" rtlCol="0"/>
          <a:lstStyle>
            <a:lvl1pPr algn="r">
              <a:defRPr sz="2400"/>
            </a:lvl1pPr>
          </a:lstStyle>
          <a:p>
            <a:fld id="{7BD29C73-B979-4503-B286-BDCA17AF832A}" type="datetimeFigureOut">
              <a:rPr lang="en-GB" smtClean="0"/>
              <a:t>07/03/2026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77888"/>
            <a:ext cx="3146425" cy="2363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84745" tIns="92373" rIns="184745" bIns="9237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8360" y="3373354"/>
            <a:ext cx="7439681" cy="2762354"/>
          </a:xfrm>
          <a:prstGeom prst="rect">
            <a:avLst/>
          </a:prstGeom>
        </p:spPr>
        <p:txBody>
          <a:bodyPr vert="horz" lIns="184745" tIns="92373" rIns="184745" bIns="9237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l">
              <a:defRPr sz="24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6041" y="6659882"/>
            <a:ext cx="4027160" cy="350519"/>
          </a:xfrm>
          <a:prstGeom prst="rect">
            <a:avLst/>
          </a:prstGeom>
        </p:spPr>
        <p:txBody>
          <a:bodyPr vert="horz" lIns="184745" tIns="92373" rIns="184745" bIns="92373" rtlCol="0" anchor="b"/>
          <a:lstStyle>
            <a:lvl1pPr algn="r">
              <a:defRPr sz="2400"/>
            </a:lvl1pPr>
          </a:lstStyle>
          <a:p>
            <a:fld id="{5A90C478-05B2-4D2A-8BB4-4AF36BE94A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21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0C478-05B2-4D2A-8BB4-4AF36BE94A9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030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4:notes"/>
          <p:cNvSpPr txBox="1">
            <a:spLocks noGrp="1"/>
          </p:cNvSpPr>
          <p:nvPr>
            <p:ph type="body" idx="1"/>
          </p:nvPr>
        </p:nvSpPr>
        <p:spPr>
          <a:xfrm>
            <a:off x="1382936" y="8798374"/>
            <a:ext cx="11063484" cy="8335301"/>
          </a:xfrm>
          <a:prstGeom prst="rect">
            <a:avLst/>
          </a:prstGeom>
        </p:spPr>
        <p:txBody>
          <a:bodyPr spcFirstLastPara="1" wrap="square" lIns="184715" tIns="184715" rIns="184715" bIns="184715" anchor="t" anchorCtr="0">
            <a:noAutofit/>
          </a:bodyPr>
          <a:lstStyle/>
          <a:p>
            <a:endParaRPr/>
          </a:p>
        </p:txBody>
      </p:sp>
      <p:sp>
        <p:nvSpPr>
          <p:cNvPr id="427" name="Google Shape;42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7588" y="1389063"/>
            <a:ext cx="9253537" cy="694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7743" y="82114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8544" y="884399"/>
            <a:ext cx="4432935" cy="466090"/>
          </a:xfrm>
          <a:custGeom>
            <a:avLst/>
            <a:gdLst/>
            <a:ahLst/>
            <a:cxnLst/>
            <a:rect l="l" t="t" r="r" b="b"/>
            <a:pathLst>
              <a:path w="4432935" h="466090">
                <a:moveTo>
                  <a:pt x="4432566" y="0"/>
                </a:moveTo>
                <a:lnTo>
                  <a:pt x="0" y="0"/>
                </a:lnTo>
                <a:lnTo>
                  <a:pt x="0" y="466093"/>
                </a:lnTo>
                <a:lnTo>
                  <a:pt x="4432566" y="466093"/>
                </a:lnTo>
                <a:lnTo>
                  <a:pt x="44325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7743" y="865563"/>
            <a:ext cx="4432935" cy="434340"/>
          </a:xfrm>
          <a:custGeom>
            <a:avLst/>
            <a:gdLst/>
            <a:ahLst/>
            <a:cxnLst/>
            <a:rect l="l" t="t" r="r" b="b"/>
            <a:pathLst>
              <a:path w="4432935" h="434340">
                <a:moveTo>
                  <a:pt x="4432566" y="0"/>
                </a:moveTo>
                <a:lnTo>
                  <a:pt x="0" y="0"/>
                </a:lnTo>
                <a:lnTo>
                  <a:pt x="0" y="383329"/>
                </a:lnTo>
                <a:lnTo>
                  <a:pt x="4008" y="403054"/>
                </a:lnTo>
                <a:lnTo>
                  <a:pt x="14922" y="419207"/>
                </a:lnTo>
                <a:lnTo>
                  <a:pt x="31075" y="430121"/>
                </a:lnTo>
                <a:lnTo>
                  <a:pt x="50800" y="434129"/>
                </a:lnTo>
                <a:lnTo>
                  <a:pt x="4381765" y="434129"/>
                </a:lnTo>
                <a:lnTo>
                  <a:pt x="4401490" y="430121"/>
                </a:lnTo>
                <a:lnTo>
                  <a:pt x="4417643" y="419207"/>
                </a:lnTo>
                <a:lnTo>
                  <a:pt x="4428558" y="403054"/>
                </a:lnTo>
                <a:lnTo>
                  <a:pt x="4432566" y="383329"/>
                </a:lnTo>
                <a:lnTo>
                  <a:pt x="4432566" y="0"/>
                </a:lnTo>
                <a:close/>
              </a:path>
            </a:pathLst>
          </a:custGeom>
          <a:solidFill>
            <a:srgbClr val="FFE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4304" y="923719"/>
            <a:ext cx="3401491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985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932" y="1620226"/>
            <a:ext cx="3804234" cy="191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292" y="748714"/>
            <a:ext cx="4355515" cy="2370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5844" y="3334918"/>
            <a:ext cx="247142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Board</a:t>
            </a:r>
            <a:r>
              <a:rPr spc="55" dirty="0"/>
              <a:t> </a:t>
            </a:r>
            <a:r>
              <a:rPr spc="5" dirty="0"/>
              <a:t>of</a:t>
            </a:r>
            <a:r>
              <a:rPr spc="55" dirty="0"/>
              <a:t> </a:t>
            </a:r>
            <a:r>
              <a:rPr dirty="0"/>
              <a:t>Accreditation</a:t>
            </a:r>
            <a:r>
              <a:rPr spc="55" dirty="0"/>
              <a:t> </a:t>
            </a:r>
            <a:r>
              <a:rPr dirty="0"/>
              <a:t>for</a:t>
            </a:r>
            <a:r>
              <a:rPr spc="55" dirty="0"/>
              <a:t> </a:t>
            </a:r>
            <a:r>
              <a:rPr spc="-15" dirty="0"/>
              <a:t>Engineering</a:t>
            </a:r>
            <a:r>
              <a:rPr spc="60" dirty="0"/>
              <a:t> </a:t>
            </a:r>
            <a:r>
              <a:rPr spc="80" dirty="0"/>
              <a:t>&amp;</a:t>
            </a:r>
            <a:r>
              <a:rPr spc="55" dirty="0"/>
              <a:t> </a:t>
            </a:r>
            <a:r>
              <a:rPr spc="-10" dirty="0"/>
              <a:t>Technical</a:t>
            </a:r>
            <a:r>
              <a:rPr spc="55" dirty="0"/>
              <a:t> </a:t>
            </a:r>
            <a:r>
              <a:rPr spc="-5" dirty="0"/>
              <a:t>Education</a:t>
            </a:r>
            <a:r>
              <a:rPr spc="55" dirty="0"/>
              <a:t> </a:t>
            </a:r>
            <a:r>
              <a:rPr spc="20" dirty="0"/>
              <a:t>(BAETE)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50013" y="3334918"/>
            <a:ext cx="15747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endParaRPr spc="-2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304" y="923719"/>
            <a:ext cx="339852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Problems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and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83836" y="3334918"/>
            <a:ext cx="10718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latin typeface="Microsoft Sans Serif"/>
                <a:cs typeface="Microsoft Sans Serif"/>
              </a:rPr>
              <a:t>Complex</a:t>
            </a:r>
            <a:r>
              <a:rPr sz="600" spc="40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Engineering</a:t>
            </a:r>
            <a:r>
              <a:rPr sz="600" spc="45" dirty="0">
                <a:latin typeface="Microsoft Sans Serif"/>
                <a:cs typeface="Microsoft Sans Serif"/>
              </a:rPr>
              <a:t> </a:t>
            </a:r>
            <a:r>
              <a:rPr sz="600" spc="-15" dirty="0">
                <a:latin typeface="Microsoft Sans Serif"/>
                <a:cs typeface="Microsoft Sans Serif"/>
              </a:rPr>
              <a:t>Problems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9990" y="3334918"/>
            <a:ext cx="11683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1798" y="225402"/>
            <a:ext cx="1706697" cy="285773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>
              <a:spcBef>
                <a:spcPts val="50"/>
              </a:spcBef>
            </a:pPr>
            <a:r>
              <a:rPr sz="1815" b="1" spc="-8" dirty="0">
                <a:solidFill>
                  <a:schemeClr val="accent1"/>
                </a:solidFill>
                <a:latin typeface="Calibri"/>
                <a:cs typeface="Calibri"/>
              </a:rPr>
              <a:t>Complex</a:t>
            </a:r>
            <a:r>
              <a:rPr sz="1815" b="1" spc="-25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1815" b="1" spc="-5" dirty="0">
                <a:solidFill>
                  <a:schemeClr val="accent1"/>
                </a:solidFill>
                <a:latin typeface="Calibri"/>
                <a:cs typeface="Calibri"/>
              </a:rPr>
              <a:t>Problem</a:t>
            </a:r>
            <a:endParaRPr sz="1815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887" y="636386"/>
            <a:ext cx="3806534" cy="2592943"/>
          </a:xfrm>
          <a:prstGeom prst="rect">
            <a:avLst/>
          </a:prstGeom>
        </p:spPr>
        <p:txBody>
          <a:bodyPr vert="horz" wrap="square" lIns="0" tIns="6403" rIns="0" bIns="0" rtlCol="0">
            <a:spAutoFit/>
          </a:bodyPr>
          <a:lstStyle/>
          <a:p>
            <a:pPr marL="6403" marR="2561" algn="ctr">
              <a:spcBef>
                <a:spcPts val="50"/>
              </a:spcBef>
            </a:pPr>
            <a:r>
              <a:rPr sz="1815" dirty="0">
                <a:latin typeface="Calibri"/>
                <a:cs typeface="Calibri"/>
              </a:rPr>
              <a:t>Need</a:t>
            </a:r>
            <a:r>
              <a:rPr sz="1815" spc="-10" dirty="0">
                <a:latin typeface="Calibri"/>
                <a:cs typeface="Calibri"/>
              </a:rPr>
              <a:t> </a:t>
            </a:r>
            <a:r>
              <a:rPr sz="1815" spc="-13" dirty="0">
                <a:latin typeface="Calibri"/>
                <a:cs typeface="Calibri"/>
              </a:rPr>
              <a:t>to</a:t>
            </a:r>
            <a:r>
              <a:rPr sz="1815" spc="-8" dirty="0">
                <a:latin typeface="Calibri"/>
                <a:cs typeface="Calibri"/>
              </a:rPr>
              <a:t> </a:t>
            </a:r>
            <a:r>
              <a:rPr sz="1815" dirty="0">
                <a:latin typeface="Calibri"/>
                <a:cs typeface="Calibri"/>
              </a:rPr>
              <a:t>think</a:t>
            </a:r>
            <a:r>
              <a:rPr sz="1815" spc="-18" dirty="0">
                <a:latin typeface="Calibri"/>
                <a:cs typeface="Calibri"/>
              </a:rPr>
              <a:t> </a:t>
            </a:r>
            <a:r>
              <a:rPr sz="1815" spc="-8" dirty="0">
                <a:latin typeface="Calibri"/>
                <a:cs typeface="Calibri"/>
              </a:rPr>
              <a:t>broadly</a:t>
            </a:r>
            <a:r>
              <a:rPr sz="1815" spc="-20" dirty="0">
                <a:latin typeface="Calibri"/>
                <a:cs typeface="Calibri"/>
              </a:rPr>
              <a:t> </a:t>
            </a:r>
            <a:r>
              <a:rPr sz="1815" dirty="0">
                <a:latin typeface="Calibri"/>
                <a:cs typeface="Calibri"/>
              </a:rPr>
              <a:t>and</a:t>
            </a:r>
            <a:r>
              <a:rPr sz="1815" spc="-10" dirty="0">
                <a:latin typeface="Calibri"/>
                <a:cs typeface="Calibri"/>
              </a:rPr>
              <a:t> systematically </a:t>
            </a:r>
            <a:r>
              <a:rPr sz="1815" spc="-403" dirty="0">
                <a:latin typeface="Calibri"/>
                <a:cs typeface="Calibri"/>
              </a:rPr>
              <a:t> </a:t>
            </a:r>
            <a:r>
              <a:rPr sz="1815" dirty="0">
                <a:latin typeface="Calibri"/>
                <a:cs typeface="Calibri"/>
              </a:rPr>
              <a:t>and</a:t>
            </a:r>
            <a:r>
              <a:rPr sz="1815" spc="-8" dirty="0">
                <a:latin typeface="Calibri"/>
                <a:cs typeface="Calibri"/>
              </a:rPr>
              <a:t> </a:t>
            </a:r>
            <a:r>
              <a:rPr sz="1815" b="1" dirty="0">
                <a:solidFill>
                  <a:srgbClr val="FF0000"/>
                </a:solidFill>
                <a:latin typeface="Calibri"/>
                <a:cs typeface="Calibri"/>
              </a:rPr>
              <a:t>see</a:t>
            </a:r>
            <a:r>
              <a:rPr sz="1815" b="1" spc="-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15" b="1" dirty="0">
                <a:solidFill>
                  <a:srgbClr val="FF0000"/>
                </a:solidFill>
                <a:latin typeface="Calibri"/>
                <a:cs typeface="Calibri"/>
              </a:rPr>
              <a:t>the big</a:t>
            </a:r>
            <a:r>
              <a:rPr sz="1815" b="1"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15" b="1" spc="-3" dirty="0">
                <a:solidFill>
                  <a:srgbClr val="FF0000"/>
                </a:solidFill>
                <a:latin typeface="Calibri"/>
                <a:cs typeface="Calibri"/>
              </a:rPr>
              <a:t>picture</a:t>
            </a:r>
            <a:endParaRPr sz="1815" dirty="0"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5" dirty="0">
                <a:solidFill>
                  <a:srgbClr val="008000"/>
                </a:solidFill>
                <a:latin typeface="Calibri"/>
                <a:cs typeface="Calibri"/>
              </a:rPr>
              <a:t>Complex	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Problem</a:t>
            </a:r>
            <a:endParaRPr lang="en-GB" sz="1613" dirty="0"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3" dirty="0">
                <a:solidFill>
                  <a:srgbClr val="008000"/>
                </a:solidFill>
                <a:latin typeface="Calibri"/>
                <a:cs typeface="Calibri"/>
              </a:rPr>
              <a:t>Difficult 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Decision </a:t>
            </a:r>
            <a:r>
              <a:rPr sz="1613" b="1" spc="-35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GB" sz="1613" b="1" spc="-358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3" dirty="0">
                <a:solidFill>
                  <a:srgbClr val="008000"/>
                </a:solidFill>
                <a:latin typeface="Calibri"/>
                <a:cs typeface="Calibri"/>
              </a:rPr>
              <a:t>Uncertain </a:t>
            </a:r>
            <a:r>
              <a:rPr sz="1613" b="1" spc="-10" dirty="0">
                <a:solidFill>
                  <a:srgbClr val="0000FF"/>
                </a:solidFill>
                <a:latin typeface="Calibri"/>
                <a:cs typeface="Calibri"/>
              </a:rPr>
              <a:t>Strategy </a:t>
            </a:r>
            <a:r>
              <a:rPr sz="1613" b="1" spc="-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GB" sz="1613" b="1" spc="-8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3" dirty="0">
                <a:solidFill>
                  <a:srgbClr val="008000"/>
                </a:solidFill>
                <a:latin typeface="Calibri"/>
                <a:cs typeface="Calibri"/>
              </a:rPr>
              <a:t>Confusing</a:t>
            </a:r>
            <a:r>
              <a:rPr sz="1613" b="1" spc="328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Idea</a:t>
            </a:r>
            <a:endParaRPr lang="en-GB" sz="1613" dirty="0"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5" dirty="0">
                <a:solidFill>
                  <a:srgbClr val="008000"/>
                </a:solidFill>
                <a:latin typeface="Calibri"/>
                <a:cs typeface="Calibri"/>
              </a:rPr>
              <a:t>Contentious </a:t>
            </a:r>
            <a:r>
              <a:rPr sz="1613" b="1" spc="-3" dirty="0">
                <a:solidFill>
                  <a:srgbClr val="0000FF"/>
                </a:solidFill>
                <a:latin typeface="Calibri"/>
                <a:cs typeface="Calibri"/>
              </a:rPr>
              <a:t>Product </a:t>
            </a:r>
            <a:r>
              <a:rPr sz="1613" b="1" spc="-358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endParaRPr lang="en-GB" sz="1613" b="1" spc="-358" dirty="0">
              <a:solidFill>
                <a:srgbClr val="0000FF"/>
              </a:solidFill>
              <a:latin typeface="Calibri"/>
              <a:cs typeface="Calibri"/>
            </a:endParaRPr>
          </a:p>
          <a:p>
            <a:pPr marR="28815" algn="ctr">
              <a:spcBef>
                <a:spcPts val="731"/>
              </a:spcBef>
              <a:tabLst>
                <a:tab pos="828912" algn="l"/>
              </a:tabLst>
            </a:pPr>
            <a:r>
              <a:rPr sz="1613" b="1" spc="-8" dirty="0">
                <a:solidFill>
                  <a:srgbClr val="008000"/>
                </a:solidFill>
                <a:latin typeface="Calibri"/>
                <a:cs typeface="Calibri"/>
              </a:rPr>
              <a:t>Intractable</a:t>
            </a:r>
            <a:r>
              <a:rPr sz="1613" b="1" spc="313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1613" b="1" spc="-5" dirty="0">
                <a:solidFill>
                  <a:srgbClr val="0000FF"/>
                </a:solidFill>
                <a:latin typeface="Calibri"/>
                <a:cs typeface="Calibri"/>
              </a:rPr>
              <a:t>Change</a:t>
            </a:r>
            <a:endParaRPr sz="1613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81309" y="471721"/>
            <a:ext cx="271484" cy="214817"/>
            <a:chOff x="4326564" y="676564"/>
            <a:chExt cx="538480" cy="42608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6564" y="676564"/>
              <a:ext cx="538089" cy="42547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355592" y="691896"/>
              <a:ext cx="485140" cy="361315"/>
            </a:xfrm>
            <a:custGeom>
              <a:avLst/>
              <a:gdLst/>
              <a:ahLst/>
              <a:cxnLst/>
              <a:rect l="l" t="t" r="r" b="b"/>
              <a:pathLst>
                <a:path w="485139" h="361315">
                  <a:moveTo>
                    <a:pt x="363474" y="0"/>
                  </a:moveTo>
                  <a:lnTo>
                    <a:pt x="121158" y="0"/>
                  </a:lnTo>
                  <a:lnTo>
                    <a:pt x="121158" y="180593"/>
                  </a:lnTo>
                  <a:lnTo>
                    <a:pt x="0" y="180593"/>
                  </a:lnTo>
                  <a:lnTo>
                    <a:pt x="242316" y="361188"/>
                  </a:lnTo>
                  <a:lnTo>
                    <a:pt x="484632" y="180593"/>
                  </a:lnTo>
                  <a:lnTo>
                    <a:pt x="363474" y="180593"/>
                  </a:lnTo>
                  <a:lnTo>
                    <a:pt x="36347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7" name="object 7"/>
            <p:cNvSpPr/>
            <p:nvPr/>
          </p:nvSpPr>
          <p:spPr>
            <a:xfrm>
              <a:off x="4355592" y="691896"/>
              <a:ext cx="485140" cy="361315"/>
            </a:xfrm>
            <a:custGeom>
              <a:avLst/>
              <a:gdLst/>
              <a:ahLst/>
              <a:cxnLst/>
              <a:rect l="l" t="t" r="r" b="b"/>
              <a:pathLst>
                <a:path w="485139" h="361315">
                  <a:moveTo>
                    <a:pt x="0" y="180593"/>
                  </a:moveTo>
                  <a:lnTo>
                    <a:pt x="121158" y="180593"/>
                  </a:lnTo>
                  <a:lnTo>
                    <a:pt x="121158" y="0"/>
                  </a:lnTo>
                  <a:lnTo>
                    <a:pt x="363474" y="0"/>
                  </a:lnTo>
                  <a:lnTo>
                    <a:pt x="363474" y="180593"/>
                  </a:lnTo>
                  <a:lnTo>
                    <a:pt x="484632" y="180593"/>
                  </a:lnTo>
                  <a:lnTo>
                    <a:pt x="242316" y="361188"/>
                  </a:lnTo>
                  <a:lnTo>
                    <a:pt x="0" y="180593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 flipH="1">
            <a:off x="4438650" y="3330575"/>
            <a:ext cx="108722" cy="769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210">
              <a:lnSpc>
                <a:spcPts val="625"/>
              </a:lnSpc>
            </a:pPr>
            <a:fld id="{81D60167-4931-47E6-BA6A-407CBD079E47}" type="slidenum">
              <a:rPr dirty="0"/>
              <a:pPr marL="19210">
                <a:lnSpc>
                  <a:spcPts val="625"/>
                </a:lnSpc>
              </a:pPr>
              <a:t>2</a:t>
            </a:fld>
            <a:endParaRPr dirty="0"/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09FCD42B-6995-C112-7336-8A4EFD21A6E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Characteristic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49832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27292" y="748714"/>
            <a:ext cx="4355515" cy="2045199"/>
          </a:xfrm>
          <a:prstGeom prst="rect">
            <a:avLst/>
          </a:prstGeom>
        </p:spPr>
        <p:txBody>
          <a:bodyPr vert="horz" wrap="square" lIns="0" tIns="186587" rIns="0" bIns="0" rtlCol="0">
            <a:spAutoFit/>
          </a:bodyPr>
          <a:lstStyle/>
          <a:p>
            <a:pPr marL="288290" marR="2923540">
              <a:lnSpc>
                <a:spcPct val="125299"/>
              </a:lnSpc>
              <a:spcBef>
                <a:spcPts val="100"/>
              </a:spcBef>
            </a:pPr>
            <a:r>
              <a:rPr spc="-10" dirty="0"/>
              <a:t>Difficult</a:t>
            </a:r>
            <a:r>
              <a:rPr spc="5" dirty="0"/>
              <a:t> </a:t>
            </a:r>
            <a:r>
              <a:rPr spc="-15" dirty="0"/>
              <a:t>to</a:t>
            </a:r>
            <a:r>
              <a:rPr spc="10" dirty="0"/>
              <a:t> </a:t>
            </a:r>
            <a:r>
              <a:rPr spc="-50" dirty="0"/>
              <a:t>solver </a:t>
            </a:r>
            <a:r>
              <a:rPr spc="-45" dirty="0"/>
              <a:t> </a:t>
            </a:r>
            <a:r>
              <a:rPr spc="-25" dirty="0"/>
              <a:t>Unfamiliar</a:t>
            </a:r>
            <a:r>
              <a:rPr spc="-10" dirty="0"/>
              <a:t> </a:t>
            </a:r>
            <a:r>
              <a:rPr spc="-15" dirty="0"/>
              <a:t>to</a:t>
            </a:r>
            <a:r>
              <a:rPr spc="-10" dirty="0"/>
              <a:t> </a:t>
            </a:r>
            <a:r>
              <a:rPr spc="-50" dirty="0"/>
              <a:t>solver</a:t>
            </a:r>
          </a:p>
          <a:p>
            <a:pPr marL="288290">
              <a:lnSpc>
                <a:spcPct val="100000"/>
              </a:lnSpc>
              <a:spcBef>
                <a:spcPts val="335"/>
              </a:spcBef>
            </a:pPr>
            <a:r>
              <a:rPr spc="-35" dirty="0"/>
              <a:t>Has</a:t>
            </a:r>
            <a:r>
              <a:rPr spc="15" dirty="0"/>
              <a:t> </a:t>
            </a:r>
            <a:r>
              <a:rPr spc="-55" dirty="0"/>
              <a:t>several</a:t>
            </a:r>
            <a:r>
              <a:rPr spc="25" dirty="0"/>
              <a:t> </a:t>
            </a:r>
            <a:r>
              <a:rPr spc="-45" dirty="0"/>
              <a:t>variables,</a:t>
            </a:r>
            <a:r>
              <a:rPr spc="25" dirty="0"/>
              <a:t> </a:t>
            </a:r>
            <a:r>
              <a:rPr spc="-55" dirty="0"/>
              <a:t>parameters,</a:t>
            </a:r>
            <a:r>
              <a:rPr spc="25" dirty="0"/>
              <a:t> </a:t>
            </a:r>
            <a:r>
              <a:rPr spc="-35" dirty="0"/>
              <a:t>constraints.</a:t>
            </a:r>
          </a:p>
          <a:p>
            <a:pPr marL="288290" marR="5080">
              <a:lnSpc>
                <a:spcPct val="125299"/>
              </a:lnSpc>
            </a:pPr>
            <a:r>
              <a:rPr spc="-35" dirty="0"/>
              <a:t>Has</a:t>
            </a:r>
            <a:r>
              <a:rPr spc="-5" dirty="0"/>
              <a:t> </a:t>
            </a:r>
            <a:r>
              <a:rPr spc="-55" dirty="0"/>
              <a:t>several</a:t>
            </a:r>
            <a:r>
              <a:rPr spc="-5" dirty="0"/>
              <a:t> </a:t>
            </a:r>
            <a:r>
              <a:rPr spc="-50" dirty="0"/>
              <a:t>components</a:t>
            </a:r>
            <a:r>
              <a:rPr spc="-5" dirty="0"/>
              <a:t> </a:t>
            </a:r>
            <a:r>
              <a:rPr spc="-40" dirty="0"/>
              <a:t>inter-connected</a:t>
            </a:r>
            <a:r>
              <a:rPr spc="-5" dirty="0"/>
              <a:t> </a:t>
            </a:r>
            <a:r>
              <a:rPr spc="-50" dirty="0"/>
              <a:t>and</a:t>
            </a:r>
            <a:r>
              <a:rPr dirty="0"/>
              <a:t> </a:t>
            </a:r>
            <a:r>
              <a:rPr spc="-55" dirty="0"/>
              <a:t>dependent</a:t>
            </a:r>
            <a:r>
              <a:rPr spc="-5" dirty="0"/>
              <a:t> </a:t>
            </a:r>
            <a:r>
              <a:rPr spc="-15" dirty="0"/>
              <a:t>to</a:t>
            </a:r>
            <a:r>
              <a:rPr spc="-5" dirty="0"/>
              <a:t> </a:t>
            </a:r>
            <a:r>
              <a:rPr spc="-60" dirty="0"/>
              <a:t>each</a:t>
            </a:r>
            <a:r>
              <a:rPr spc="-5" dirty="0"/>
              <a:t> </a:t>
            </a:r>
            <a:r>
              <a:rPr spc="-40" dirty="0"/>
              <a:t>other. </a:t>
            </a:r>
            <a:r>
              <a:rPr spc="-325" dirty="0"/>
              <a:t> </a:t>
            </a:r>
            <a:r>
              <a:rPr spc="-20" dirty="0"/>
              <a:t>The</a:t>
            </a:r>
            <a:r>
              <a:rPr spc="20" dirty="0"/>
              <a:t> </a:t>
            </a:r>
            <a:r>
              <a:rPr spc="-50" dirty="0"/>
              <a:t>solver</a:t>
            </a:r>
            <a:r>
              <a:rPr spc="20" dirty="0"/>
              <a:t> </a:t>
            </a:r>
            <a:r>
              <a:rPr spc="-60" dirty="0"/>
              <a:t>does</a:t>
            </a:r>
            <a:r>
              <a:rPr spc="15" dirty="0"/>
              <a:t> </a:t>
            </a:r>
            <a:r>
              <a:rPr spc="-30" dirty="0"/>
              <a:t>not</a:t>
            </a:r>
            <a:r>
              <a:rPr spc="20" dirty="0"/>
              <a:t> </a:t>
            </a:r>
            <a:r>
              <a:rPr spc="-65" dirty="0"/>
              <a:t>have</a:t>
            </a:r>
            <a:r>
              <a:rPr spc="20" dirty="0"/>
              <a:t> </a:t>
            </a:r>
            <a:r>
              <a:rPr spc="-50" dirty="0"/>
              <a:t>any</a:t>
            </a:r>
            <a:r>
              <a:rPr spc="20" dirty="0"/>
              <a:t> </a:t>
            </a:r>
            <a:r>
              <a:rPr spc="-45" dirty="0"/>
              <a:t>immediate</a:t>
            </a:r>
            <a:r>
              <a:rPr spc="20" dirty="0"/>
              <a:t> </a:t>
            </a:r>
            <a:r>
              <a:rPr spc="-30" dirty="0"/>
              <a:t>solution.</a:t>
            </a:r>
          </a:p>
          <a:p>
            <a:pPr marL="288290">
              <a:lnSpc>
                <a:spcPct val="100000"/>
              </a:lnSpc>
              <a:spcBef>
                <a:spcPts val="334"/>
              </a:spcBef>
            </a:pPr>
            <a:r>
              <a:rPr spc="-5" dirty="0"/>
              <a:t>Multiple</a:t>
            </a:r>
            <a:r>
              <a:rPr spc="15" dirty="0"/>
              <a:t> </a:t>
            </a:r>
            <a:r>
              <a:rPr spc="-50" dirty="0"/>
              <a:t>stake-holders</a:t>
            </a:r>
            <a:r>
              <a:rPr spc="25" dirty="0"/>
              <a:t> </a:t>
            </a:r>
            <a:r>
              <a:rPr spc="-25" dirty="0"/>
              <a:t>with</a:t>
            </a:r>
            <a:r>
              <a:rPr spc="20" dirty="0"/>
              <a:t> </a:t>
            </a:r>
            <a:r>
              <a:rPr spc="-40" dirty="0"/>
              <a:t>different</a:t>
            </a:r>
            <a:r>
              <a:rPr spc="25" dirty="0"/>
              <a:t> </a:t>
            </a:r>
            <a:r>
              <a:rPr spc="-60" dirty="0"/>
              <a:t>views</a:t>
            </a:r>
            <a:r>
              <a:rPr spc="20" dirty="0"/>
              <a:t> </a:t>
            </a:r>
            <a:r>
              <a:rPr spc="-60" dirty="0"/>
              <a:t>or</a:t>
            </a:r>
            <a:r>
              <a:rPr spc="25" dirty="0"/>
              <a:t> </a:t>
            </a:r>
            <a:r>
              <a:rPr spc="-40" dirty="0"/>
              <a:t>interests.</a:t>
            </a:r>
          </a:p>
          <a:p>
            <a:pPr marL="288290" marR="200660">
              <a:lnSpc>
                <a:spcPct val="102699"/>
              </a:lnSpc>
              <a:spcBef>
                <a:spcPts val="295"/>
              </a:spcBef>
            </a:pPr>
            <a:r>
              <a:rPr spc="-10" dirty="0"/>
              <a:t>No</a:t>
            </a:r>
            <a:r>
              <a:rPr spc="15" dirty="0"/>
              <a:t> </a:t>
            </a:r>
            <a:r>
              <a:rPr spc="-45" dirty="0"/>
              <a:t>clear</a:t>
            </a:r>
            <a:r>
              <a:rPr spc="20" dirty="0"/>
              <a:t> </a:t>
            </a:r>
            <a:r>
              <a:rPr spc="-50" dirty="0"/>
              <a:t>problem</a:t>
            </a:r>
            <a:r>
              <a:rPr spc="25" dirty="0"/>
              <a:t> </a:t>
            </a:r>
            <a:r>
              <a:rPr spc="-55" dirty="0"/>
              <a:t>boundary.</a:t>
            </a:r>
            <a:r>
              <a:rPr spc="140" dirty="0"/>
              <a:t> </a:t>
            </a:r>
            <a:r>
              <a:rPr spc="-20" dirty="0"/>
              <a:t>The</a:t>
            </a:r>
            <a:r>
              <a:rPr spc="20" dirty="0"/>
              <a:t> </a:t>
            </a:r>
            <a:r>
              <a:rPr spc="-50" dirty="0"/>
              <a:t>solver</a:t>
            </a:r>
            <a:r>
              <a:rPr spc="20" dirty="0"/>
              <a:t> </a:t>
            </a:r>
            <a:r>
              <a:rPr spc="-75" dirty="0"/>
              <a:t>need</a:t>
            </a:r>
            <a:r>
              <a:rPr lang="en-GB" spc="-75" dirty="0"/>
              <a:t>s</a:t>
            </a:r>
            <a:r>
              <a:rPr spc="20" dirty="0"/>
              <a:t> </a:t>
            </a:r>
            <a:r>
              <a:rPr spc="-15" dirty="0"/>
              <a:t>to</a:t>
            </a:r>
            <a:r>
              <a:rPr spc="20" dirty="0"/>
              <a:t> </a:t>
            </a:r>
            <a:r>
              <a:rPr spc="-55" dirty="0"/>
              <a:t>define</a:t>
            </a:r>
            <a:r>
              <a:rPr spc="25" dirty="0"/>
              <a:t> </a:t>
            </a:r>
            <a:r>
              <a:rPr spc="-40" dirty="0"/>
              <a:t>the</a:t>
            </a:r>
            <a:r>
              <a:rPr spc="20" dirty="0"/>
              <a:t> </a:t>
            </a:r>
            <a:r>
              <a:rPr spc="-50" dirty="0"/>
              <a:t>problem </a:t>
            </a:r>
            <a:r>
              <a:rPr spc="-330" dirty="0"/>
              <a:t> </a:t>
            </a:r>
            <a:r>
              <a:rPr spc="-40" dirty="0"/>
              <a:t>prior</a:t>
            </a:r>
            <a:r>
              <a:rPr spc="15" dirty="0"/>
              <a:t> </a:t>
            </a:r>
            <a:r>
              <a:rPr spc="-40" dirty="0"/>
              <a:t>solving</a:t>
            </a:r>
            <a:r>
              <a:rPr spc="15" dirty="0"/>
              <a:t> </a:t>
            </a:r>
            <a:r>
              <a:rPr dirty="0"/>
              <a:t>it.</a:t>
            </a:r>
          </a:p>
          <a:p>
            <a:pPr marL="288290">
              <a:lnSpc>
                <a:spcPct val="100000"/>
              </a:lnSpc>
              <a:spcBef>
                <a:spcPts val="335"/>
              </a:spcBef>
            </a:pPr>
            <a:r>
              <a:rPr spc="-20" dirty="0"/>
              <a:t>The</a:t>
            </a:r>
            <a:r>
              <a:rPr spc="10" dirty="0"/>
              <a:t> </a:t>
            </a:r>
            <a:r>
              <a:rPr spc="-50" dirty="0"/>
              <a:t>solver</a:t>
            </a:r>
            <a:r>
              <a:rPr spc="15" dirty="0"/>
              <a:t> </a:t>
            </a:r>
            <a:r>
              <a:rPr spc="-75" dirty="0"/>
              <a:t>needs</a:t>
            </a:r>
            <a:r>
              <a:rPr spc="15" dirty="0"/>
              <a:t> </a:t>
            </a:r>
            <a:r>
              <a:rPr spc="-15" dirty="0"/>
              <a:t>to</a:t>
            </a:r>
            <a:r>
              <a:rPr spc="10" dirty="0"/>
              <a:t> </a:t>
            </a:r>
            <a:r>
              <a:rPr spc="-25" dirty="0"/>
              <a:t>justify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0" dirty="0"/>
              <a:t> </a:t>
            </a:r>
            <a:r>
              <a:rPr spc="-30" dirty="0"/>
              <a:t>solution.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25986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69897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7993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8996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99995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310028"/>
            <a:ext cx="65265" cy="65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692133"/>
            <a:ext cx="65265" cy="6526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3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529" y="667491"/>
            <a:ext cx="2779186" cy="348101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6403">
              <a:spcBef>
                <a:spcPts val="53"/>
              </a:spcBef>
            </a:pPr>
            <a:r>
              <a:rPr sz="2218" b="1" spc="-3" dirty="0">
                <a:solidFill>
                  <a:schemeClr val="accent1"/>
                </a:solidFill>
                <a:latin typeface="Calibri"/>
                <a:cs typeface="Calibri"/>
              </a:rPr>
              <a:t>Difficulty</a:t>
            </a:r>
            <a:r>
              <a:rPr sz="2218" b="1" spc="-28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18" b="1" dirty="0">
                <a:solidFill>
                  <a:schemeClr val="accent1"/>
                </a:solidFill>
                <a:latin typeface="Calibri"/>
                <a:cs typeface="Calibri"/>
              </a:rPr>
              <a:t>&amp;</a:t>
            </a:r>
            <a:r>
              <a:rPr sz="2218" b="1" spc="-1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218" b="1" spc="-5" dirty="0">
                <a:solidFill>
                  <a:schemeClr val="accent1"/>
                </a:solidFill>
                <a:latin typeface="Calibri"/>
                <a:cs typeface="Calibri"/>
              </a:rPr>
              <a:t>Uncertainty</a:t>
            </a:r>
            <a:endParaRPr sz="2218" dirty="0">
              <a:solidFill>
                <a:schemeClr val="accent1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6250" y="1120775"/>
            <a:ext cx="3719774" cy="1846844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marL="179294" marR="2561" indent="-172890">
              <a:spcBef>
                <a:spcPts val="53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613" b="1" spc="-5" dirty="0">
                <a:solidFill>
                  <a:srgbClr val="FF0000"/>
                </a:solidFill>
                <a:latin typeface="Calibri"/>
                <a:cs typeface="Calibri"/>
              </a:rPr>
              <a:t>Complexity</a:t>
            </a:r>
            <a:r>
              <a:rPr sz="1613" b="1" spc="-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–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the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5" dirty="0">
                <a:latin typeface="Calibri"/>
                <a:cs typeface="Calibri"/>
              </a:rPr>
              <a:t>problem</a:t>
            </a:r>
            <a:r>
              <a:rPr sz="1613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contains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a</a:t>
            </a:r>
            <a:r>
              <a:rPr sz="1613" spc="5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large </a:t>
            </a:r>
            <a:r>
              <a:rPr sz="1613" spc="-355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number</a:t>
            </a:r>
            <a:r>
              <a:rPr sz="1613" spc="5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of </a:t>
            </a:r>
            <a:r>
              <a:rPr sz="1613" spc="-8" dirty="0">
                <a:latin typeface="Calibri"/>
                <a:cs typeface="Calibri"/>
              </a:rPr>
              <a:t>diverse,</a:t>
            </a:r>
            <a:r>
              <a:rPr sz="1613" spc="-3" dirty="0">
                <a:latin typeface="Calibri"/>
                <a:cs typeface="Calibri"/>
              </a:rPr>
              <a:t> dynamic</a:t>
            </a:r>
            <a:r>
              <a:rPr sz="1613" spc="13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and 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interdependent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elements</a:t>
            </a:r>
            <a:endParaRPr sz="1613" dirty="0">
              <a:latin typeface="Calibri"/>
              <a:cs typeface="Calibri"/>
            </a:endParaRPr>
          </a:p>
          <a:p>
            <a:pPr marL="179294" marR="54108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613" b="1" spc="-5" dirty="0">
                <a:solidFill>
                  <a:srgbClr val="FF0000"/>
                </a:solidFill>
                <a:latin typeface="Calibri"/>
                <a:cs typeface="Calibri"/>
              </a:rPr>
              <a:t>Measurement</a:t>
            </a:r>
            <a:r>
              <a:rPr sz="1613" b="1" spc="-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–</a:t>
            </a:r>
            <a:r>
              <a:rPr sz="1613" spc="-5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it is</a:t>
            </a:r>
            <a:r>
              <a:rPr sz="1613" spc="-8" dirty="0">
                <a:latin typeface="Calibri"/>
                <a:cs typeface="Calibri"/>
              </a:rPr>
              <a:t> </a:t>
            </a:r>
            <a:r>
              <a:rPr sz="1613" spc="-5" dirty="0">
                <a:latin typeface="Calibri"/>
                <a:cs typeface="Calibri"/>
              </a:rPr>
              <a:t>difficult</a:t>
            </a:r>
            <a:r>
              <a:rPr sz="1613" spc="13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or</a:t>
            </a:r>
            <a:r>
              <a:rPr sz="1613" spc="-5" dirty="0">
                <a:latin typeface="Calibri"/>
                <a:cs typeface="Calibri"/>
              </a:rPr>
              <a:t> practically </a:t>
            </a:r>
            <a:r>
              <a:rPr sz="1613" spc="-355" dirty="0">
                <a:latin typeface="Calibri"/>
                <a:cs typeface="Calibri"/>
              </a:rPr>
              <a:t> </a:t>
            </a:r>
            <a:r>
              <a:rPr lang="en-GB" sz="1613" spc="-8" dirty="0">
                <a:latin typeface="Calibri"/>
                <a:cs typeface="Calibri"/>
              </a:rPr>
              <a:t>in</a:t>
            </a:r>
            <a:r>
              <a:rPr sz="1613" spc="-8" dirty="0">
                <a:latin typeface="Calibri"/>
                <a:cs typeface="Calibri"/>
              </a:rPr>
              <a:t>feasible</a:t>
            </a:r>
            <a:r>
              <a:rPr sz="1613" spc="10" dirty="0">
                <a:latin typeface="Calibri"/>
                <a:cs typeface="Calibri"/>
              </a:rPr>
              <a:t> </a:t>
            </a:r>
            <a:r>
              <a:rPr sz="1613" spc="-13" dirty="0">
                <a:latin typeface="Calibri"/>
                <a:cs typeface="Calibri"/>
              </a:rPr>
              <a:t>to</a:t>
            </a:r>
            <a:r>
              <a:rPr sz="1613" spc="3" dirty="0">
                <a:latin typeface="Calibri"/>
                <a:cs typeface="Calibri"/>
              </a:rPr>
              <a:t> </a:t>
            </a:r>
            <a:r>
              <a:rPr sz="1613" spc="-8" dirty="0">
                <a:latin typeface="Calibri"/>
                <a:cs typeface="Calibri"/>
              </a:rPr>
              <a:t>get</a:t>
            </a:r>
            <a:r>
              <a:rPr sz="1613" dirty="0">
                <a:latin typeface="Calibri"/>
                <a:cs typeface="Calibri"/>
              </a:rPr>
              <a:t> </a:t>
            </a:r>
            <a:r>
              <a:rPr sz="1613" spc="-5" dirty="0">
                <a:latin typeface="Calibri"/>
                <a:cs typeface="Calibri"/>
              </a:rPr>
              <a:t>good </a:t>
            </a:r>
            <a:r>
              <a:rPr sz="1613" spc="-8" dirty="0">
                <a:latin typeface="Calibri"/>
                <a:cs typeface="Calibri"/>
              </a:rPr>
              <a:t>qualitative</a:t>
            </a:r>
            <a:r>
              <a:rPr sz="1613" spc="23" dirty="0">
                <a:latin typeface="Calibri"/>
                <a:cs typeface="Calibri"/>
              </a:rPr>
              <a:t> </a:t>
            </a:r>
            <a:r>
              <a:rPr sz="1613" spc="-10" dirty="0">
                <a:latin typeface="Calibri"/>
                <a:cs typeface="Calibri"/>
              </a:rPr>
              <a:t>data</a:t>
            </a:r>
            <a:endParaRPr sz="1613" dirty="0">
              <a:latin typeface="Calibri"/>
              <a:cs typeface="Calibri"/>
            </a:endParaRPr>
          </a:p>
          <a:p>
            <a:pPr marL="179294" marR="50266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613" b="1" spc="-3" dirty="0">
                <a:solidFill>
                  <a:srgbClr val="FF0000"/>
                </a:solidFill>
                <a:latin typeface="Calibri"/>
                <a:cs typeface="Calibri"/>
              </a:rPr>
              <a:t>Novelty </a:t>
            </a:r>
            <a:r>
              <a:rPr sz="1613" dirty="0">
                <a:latin typeface="Calibri"/>
                <a:cs typeface="Calibri"/>
              </a:rPr>
              <a:t>– </a:t>
            </a:r>
            <a:r>
              <a:rPr sz="1613" spc="-5" dirty="0">
                <a:latin typeface="Calibri"/>
                <a:cs typeface="Calibri"/>
              </a:rPr>
              <a:t>there </a:t>
            </a:r>
            <a:r>
              <a:rPr sz="1613" dirty="0">
                <a:latin typeface="Calibri"/>
                <a:cs typeface="Calibri"/>
              </a:rPr>
              <a:t>is a </a:t>
            </a:r>
            <a:r>
              <a:rPr sz="1613" spc="-3" dirty="0">
                <a:latin typeface="Calibri"/>
                <a:cs typeface="Calibri"/>
              </a:rPr>
              <a:t>new solution </a:t>
            </a:r>
            <a:r>
              <a:rPr sz="1613" spc="-5" dirty="0">
                <a:latin typeface="Calibri"/>
                <a:cs typeface="Calibri"/>
              </a:rPr>
              <a:t>evolving </a:t>
            </a:r>
            <a:r>
              <a:rPr sz="1613" spc="-358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or</a:t>
            </a:r>
            <a:r>
              <a:rPr sz="1613" spc="-5" dirty="0">
                <a:latin typeface="Calibri"/>
                <a:cs typeface="Calibri"/>
              </a:rPr>
              <a:t> </a:t>
            </a:r>
            <a:r>
              <a:rPr sz="1613" dirty="0">
                <a:latin typeface="Calibri"/>
                <a:cs typeface="Calibri"/>
              </a:rPr>
              <a:t>an </a:t>
            </a:r>
            <a:r>
              <a:rPr sz="1613" spc="-8" dirty="0">
                <a:latin typeface="Calibri"/>
                <a:cs typeface="Calibri"/>
              </a:rPr>
              <a:t>innovative</a:t>
            </a:r>
            <a:r>
              <a:rPr sz="1613" spc="8" dirty="0">
                <a:latin typeface="Calibri"/>
                <a:cs typeface="Calibri"/>
              </a:rPr>
              <a:t> </a:t>
            </a:r>
            <a:r>
              <a:rPr sz="1613" spc="-3" dirty="0">
                <a:latin typeface="Calibri"/>
                <a:cs typeface="Calibri"/>
              </a:rPr>
              <a:t>design</a:t>
            </a:r>
            <a:r>
              <a:rPr sz="1613" dirty="0">
                <a:latin typeface="Calibri"/>
                <a:cs typeface="Calibri"/>
              </a:rPr>
              <a:t> is</a:t>
            </a:r>
            <a:r>
              <a:rPr sz="1613" spc="-3" dirty="0">
                <a:latin typeface="Calibri"/>
                <a:cs typeface="Calibri"/>
              </a:rPr>
              <a:t> needed</a:t>
            </a:r>
            <a:endParaRPr sz="1613" dirty="0">
              <a:latin typeface="Calibri"/>
              <a:cs typeface="Calibri"/>
            </a:endParaRPr>
          </a:p>
        </p:txBody>
      </p:sp>
      <p:sp>
        <p:nvSpPr>
          <p:cNvPr id="5" name="object 13">
            <a:extLst>
              <a:ext uri="{FF2B5EF4-FFF2-40B4-BE49-F238E27FC236}">
                <a16:creationId xmlns:a16="http://schemas.microsoft.com/office/drawing/2014/main" id="{BD910E79-1BAC-33DB-1BC7-BCBEAD08D39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7CE46AF5-2B4B-1D1F-F136-826E339A347F}"/>
              </a:ext>
            </a:extLst>
          </p:cNvPr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4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58" y="1105694"/>
            <a:ext cx="1965695" cy="1416325"/>
            <a:chOff x="324611" y="2189963"/>
            <a:chExt cx="3898900" cy="28092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760" y="2189963"/>
              <a:ext cx="3599703" cy="280878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611" y="2458211"/>
              <a:ext cx="3898391" cy="239725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7867" y="2205228"/>
              <a:ext cx="3528060" cy="2737485"/>
            </a:xfrm>
            <a:custGeom>
              <a:avLst/>
              <a:gdLst/>
              <a:ahLst/>
              <a:cxnLst/>
              <a:rect l="l" t="t" r="r" b="b"/>
              <a:pathLst>
                <a:path w="3528060" h="2737485">
                  <a:moveTo>
                    <a:pt x="3528059" y="0"/>
                  </a:moveTo>
                  <a:lnTo>
                    <a:pt x="0" y="0"/>
                  </a:lnTo>
                  <a:lnTo>
                    <a:pt x="0" y="2737104"/>
                  </a:lnTo>
                  <a:lnTo>
                    <a:pt x="3528059" y="2737104"/>
                  </a:lnTo>
                  <a:lnTo>
                    <a:pt x="352805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5884" y="1113389"/>
            <a:ext cx="1762079" cy="1188157"/>
          </a:xfrm>
          <a:prstGeom prst="rect">
            <a:avLst/>
          </a:prstGeom>
          <a:ln w="9144">
            <a:noFill/>
          </a:ln>
        </p:spPr>
        <p:txBody>
          <a:bodyPr vert="horz" wrap="square" lIns="0" tIns="1281" rIns="0" bIns="0" rtlCol="0">
            <a:spAutoFit/>
          </a:bodyPr>
          <a:lstStyle/>
          <a:p>
            <a:pPr>
              <a:spcBef>
                <a:spcPts val="10"/>
              </a:spcBef>
            </a:pPr>
            <a:endParaRPr sz="1261">
              <a:latin typeface="Times New Roman"/>
              <a:cs typeface="Times New Roman"/>
            </a:endParaRPr>
          </a:p>
          <a:p>
            <a:pPr marL="72038" marR="67875" algn="ctr"/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Scie</a:t>
            </a:r>
            <a:r>
              <a:rPr sz="1613" b="1" spc="-13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tifi</a:t>
            </a:r>
            <a:r>
              <a:rPr sz="1613" b="1" spc="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613" b="1" spc="-139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echn</a:t>
            </a:r>
            <a:r>
              <a:rPr sz="1613" b="1" spc="-10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613" b="1" spc="-13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613" b="1" spc="-5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l  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endParaRPr sz="1613">
              <a:latin typeface="Calibri"/>
              <a:cs typeface="Calibri"/>
            </a:endParaRPr>
          </a:p>
          <a:p>
            <a:pPr marL="237884" marR="235323" algn="ctr">
              <a:spcBef>
                <a:spcPts val="3"/>
              </a:spcBef>
            </a:pPr>
            <a:r>
              <a:rPr sz="1613" b="1" spc="-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613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combine</a:t>
            </a:r>
            <a:r>
              <a:rPr sz="1613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10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613" b="1" spc="-35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8" dirty="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endParaRPr sz="1613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76274" y="1105694"/>
            <a:ext cx="1852044" cy="1416325"/>
            <a:chOff x="5109964" y="2189963"/>
            <a:chExt cx="3673475" cy="280924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9964" y="2189963"/>
              <a:ext cx="3672855" cy="280878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148071" y="2205228"/>
              <a:ext cx="3601720" cy="2737485"/>
            </a:xfrm>
            <a:custGeom>
              <a:avLst/>
              <a:gdLst/>
              <a:ahLst/>
              <a:cxnLst/>
              <a:rect l="l" t="t" r="r" b="b"/>
              <a:pathLst>
                <a:path w="3601720" h="2737485">
                  <a:moveTo>
                    <a:pt x="3601212" y="0"/>
                  </a:moveTo>
                  <a:lnTo>
                    <a:pt x="0" y="0"/>
                  </a:lnTo>
                  <a:lnTo>
                    <a:pt x="0" y="2737104"/>
                  </a:lnTo>
                  <a:lnTo>
                    <a:pt x="3601212" y="2737104"/>
                  </a:lnTo>
                  <a:lnTo>
                    <a:pt x="360121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0" name="object 10"/>
            <p:cNvSpPr/>
            <p:nvPr/>
          </p:nvSpPr>
          <p:spPr>
            <a:xfrm>
              <a:off x="5148071" y="2205228"/>
              <a:ext cx="3601720" cy="2737485"/>
            </a:xfrm>
            <a:custGeom>
              <a:avLst/>
              <a:gdLst/>
              <a:ahLst/>
              <a:cxnLst/>
              <a:rect l="l" t="t" r="r" b="b"/>
              <a:pathLst>
                <a:path w="3601720" h="2737485">
                  <a:moveTo>
                    <a:pt x="0" y="2737104"/>
                  </a:moveTo>
                  <a:lnTo>
                    <a:pt x="3601212" y="2737104"/>
                  </a:lnTo>
                  <a:lnTo>
                    <a:pt x="3601212" y="0"/>
                  </a:lnTo>
                  <a:lnTo>
                    <a:pt x="0" y="0"/>
                  </a:lnTo>
                  <a:lnTo>
                    <a:pt x="0" y="2737104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650" y="1538159"/>
            <a:ext cx="1520693" cy="503207"/>
          </a:xfrm>
          <a:prstGeom prst="rect">
            <a:avLst/>
          </a:prstGeom>
        </p:spPr>
        <p:txBody>
          <a:bodyPr vert="horz" wrap="square" lIns="0" tIns="6723" rIns="0" bIns="0" rtlCol="0">
            <a:spAutoFit/>
          </a:bodyPr>
          <a:lstStyle/>
          <a:p>
            <a:pPr algn="ctr">
              <a:spcBef>
                <a:spcPts val="53"/>
              </a:spcBef>
            </a:pPr>
            <a:r>
              <a:rPr sz="1613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1613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613" b="1" spc="-5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1613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13" b="1" spc="-3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613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90795" y="1751114"/>
            <a:ext cx="648615" cy="296775"/>
            <a:chOff x="3948684" y="3470135"/>
            <a:chExt cx="1286510" cy="58864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8684" y="3470135"/>
              <a:ext cx="1286256" cy="58827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995928" y="3500628"/>
              <a:ext cx="1195070" cy="486409"/>
            </a:xfrm>
            <a:custGeom>
              <a:avLst/>
              <a:gdLst/>
              <a:ahLst/>
              <a:cxnLst/>
              <a:rect l="l" t="t" r="r" b="b"/>
              <a:pathLst>
                <a:path w="1195070" h="486410">
                  <a:moveTo>
                    <a:pt x="951738" y="0"/>
                  </a:moveTo>
                  <a:lnTo>
                    <a:pt x="951738" y="121539"/>
                  </a:lnTo>
                  <a:lnTo>
                    <a:pt x="0" y="121539"/>
                  </a:lnTo>
                  <a:lnTo>
                    <a:pt x="0" y="364617"/>
                  </a:lnTo>
                  <a:lnTo>
                    <a:pt x="951738" y="364617"/>
                  </a:lnTo>
                  <a:lnTo>
                    <a:pt x="951738" y="486156"/>
                  </a:lnTo>
                  <a:lnTo>
                    <a:pt x="1194816" y="243078"/>
                  </a:lnTo>
                  <a:lnTo>
                    <a:pt x="95173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908"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5928" y="3500628"/>
              <a:ext cx="1195070" cy="486409"/>
            </a:xfrm>
            <a:custGeom>
              <a:avLst/>
              <a:gdLst/>
              <a:ahLst/>
              <a:cxnLst/>
              <a:rect l="l" t="t" r="r" b="b"/>
              <a:pathLst>
                <a:path w="1195070" h="486410">
                  <a:moveTo>
                    <a:pt x="0" y="121539"/>
                  </a:moveTo>
                  <a:lnTo>
                    <a:pt x="951738" y="121539"/>
                  </a:lnTo>
                  <a:lnTo>
                    <a:pt x="951738" y="0"/>
                  </a:lnTo>
                  <a:lnTo>
                    <a:pt x="1194816" y="243078"/>
                  </a:lnTo>
                  <a:lnTo>
                    <a:pt x="951738" y="486156"/>
                  </a:lnTo>
                  <a:lnTo>
                    <a:pt x="951738" y="364617"/>
                  </a:lnTo>
                  <a:lnTo>
                    <a:pt x="0" y="364617"/>
                  </a:lnTo>
                  <a:lnTo>
                    <a:pt x="0" y="12153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 sz="908"/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1C89572A-9E32-215F-A600-4FC0299BEF0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34918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5609E89A-4538-68E8-18C3-480447B66551}"/>
              </a:ext>
            </a:extLst>
          </p:cNvPr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5</a:t>
            </a:fld>
            <a:endParaRPr sz="6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4709" y="653023"/>
            <a:ext cx="2598526" cy="26296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6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7</a:t>
            </a:fld>
            <a:endParaRPr sz="60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431123"/>
              </p:ext>
            </p:extLst>
          </p:nvPr>
        </p:nvGraphicFramePr>
        <p:xfrm>
          <a:off x="151714" y="869289"/>
          <a:ext cx="4264025" cy="21246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10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3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Attribute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Complex</a:t>
                      </a:r>
                      <a:r>
                        <a:rPr sz="8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Engineering</a:t>
                      </a:r>
                      <a:r>
                        <a:rPr sz="800" b="1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Problems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characteristic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P1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some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all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P2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P7: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Depth</a:t>
                      </a:r>
                      <a:r>
                        <a:rPr sz="800" spc="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1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quired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P1:</a:t>
                      </a:r>
                      <a:r>
                        <a:rPr sz="800" b="1" spc="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Cannot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be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resolved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without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in-depth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31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at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level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one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more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K3,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K4,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K5,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K6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K8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which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allows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fundamentals-based,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first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principles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analytical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approach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conflicting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lang="en-US" sz="800" spc="-15" dirty="0">
                          <a:latin typeface="Microsoft Sans Serif"/>
                          <a:cs typeface="Microsoft Sans Serif"/>
                        </a:rPr>
                        <a:t>q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uirements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P2:</a:t>
                      </a:r>
                      <a:r>
                        <a:rPr sz="800" b="1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wide-ranging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conflicting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technical,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other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Depth   of  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r>
                        <a:rPr sz="800" spc="4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</a:t>
                      </a:r>
                      <a:r>
                        <a:rPr lang="en-US" sz="800" spc="-15" dirty="0">
                          <a:latin typeface="Microsoft Sans Serif"/>
                          <a:cs typeface="Microsoft Sans Serif"/>
                        </a:rPr>
                        <a:t>q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uired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P3:</a:t>
                      </a:r>
                      <a:r>
                        <a:rPr sz="800" b="1" spc="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no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obvious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solution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require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abstract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thinking,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orig-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inality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30" dirty="0">
                          <a:latin typeface="Microsoft Sans Serif"/>
                          <a:cs typeface="Microsoft Sans Serif"/>
                        </a:rPr>
                        <a:t>to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formulate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suitable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models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60"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Familiarity</a:t>
                      </a:r>
                      <a:r>
                        <a:rPr sz="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P4:</a:t>
                      </a:r>
                      <a:r>
                        <a:rPr sz="800" b="1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infrequently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encountered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  <a:tabLst>
                          <a:tab pos="498475" algn="l"/>
                          <a:tab pos="713105" algn="l"/>
                        </a:tabLst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Extent	of</a:t>
                      </a:r>
                      <a:endParaRPr lang="en-US" sz="800" spc="5" dirty="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835"/>
                        </a:lnSpc>
                        <a:tabLst>
                          <a:tab pos="498475" algn="l"/>
                          <a:tab pos="713105" algn="l"/>
                        </a:tabLst>
                      </a:pPr>
                      <a:r>
                        <a:rPr lang="en-US" sz="800" spc="-15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pplicable</a:t>
                      </a:r>
                      <a:r>
                        <a:rPr lang="en-US" sz="800" spc="0" baseline="0" dirty="0">
                          <a:latin typeface="Microsoft Sans Serif"/>
                          <a:cs typeface="Microsoft Sans Serif"/>
                        </a:rPr>
                        <a:t> c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odes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P5:</a:t>
                      </a:r>
                      <a:r>
                        <a:rPr sz="800" b="1" spc="2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Are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outside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problems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encompassed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by</a:t>
                      </a:r>
                      <a:r>
                        <a:rPr sz="800" spc="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standards</a:t>
                      </a:r>
                      <a:r>
                        <a:rPr sz="800" spc="10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codes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practice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professional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Extent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stakeholder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volvement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ing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requirements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P6:</a:t>
                      </a:r>
                      <a:r>
                        <a:rPr sz="800" b="1" spc="3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diverse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groups</a:t>
                      </a:r>
                      <a:r>
                        <a:rPr sz="800" spc="1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stakeholders</a:t>
                      </a:r>
                      <a:r>
                        <a:rPr sz="800" spc="1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0" dirty="0">
                          <a:latin typeface="Microsoft Sans Serif"/>
                          <a:cs typeface="Microsoft Sans Serif"/>
                        </a:rPr>
                        <a:t>with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widely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varying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needs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Interdependence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P7:</a:t>
                      </a:r>
                      <a:r>
                        <a:rPr sz="800" b="1" spc="1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Are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high-level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problems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including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many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component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parts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sub-problems</a:t>
                      </a:r>
                      <a:endParaRPr sz="8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2603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15847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319504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62316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52104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141918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293747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432926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966" y="2597416"/>
            <a:ext cx="52590" cy="525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2736596"/>
            <a:ext cx="52590" cy="525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3014941"/>
            <a:ext cx="52590" cy="5259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02932" y="717498"/>
            <a:ext cx="4072254" cy="238823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0" dirty="0">
                <a:latin typeface="Tahoma"/>
                <a:cs typeface="Tahoma"/>
              </a:rPr>
              <a:t>P1: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In–Depth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Required</a:t>
            </a:r>
            <a:endParaRPr sz="1100">
              <a:latin typeface="Tahoma"/>
              <a:cs typeface="Tahoma"/>
            </a:endParaRPr>
          </a:p>
          <a:p>
            <a:pPr marL="289560" marR="487680">
              <a:lnSpc>
                <a:spcPct val="100000"/>
              </a:lnSpc>
              <a:spcBef>
                <a:spcPts val="175"/>
              </a:spcBef>
            </a:pPr>
            <a:r>
              <a:rPr sz="1000" spc="-50" dirty="0">
                <a:latin typeface="Tahoma"/>
                <a:cs typeface="Tahoma"/>
              </a:rPr>
              <a:t>knowledge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gained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courses/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learning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activities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beyond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introductory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instructional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level</a:t>
            </a:r>
            <a:endParaRPr sz="1000">
              <a:latin typeface="Tahoma"/>
              <a:cs typeface="Tahoma"/>
            </a:endParaRPr>
          </a:p>
          <a:p>
            <a:pPr marL="289560" marR="48895">
              <a:lnSpc>
                <a:spcPts val="1200"/>
              </a:lnSpc>
              <a:spcBef>
                <a:spcPts val="35"/>
              </a:spcBef>
            </a:pPr>
            <a:r>
              <a:rPr sz="1000" spc="-15" dirty="0">
                <a:latin typeface="Tahoma"/>
                <a:cs typeface="Tahoma"/>
              </a:rPr>
              <a:t>first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Principles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fundamental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concepts/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assumptions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which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theory,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system,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method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based.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10" dirty="0">
                <a:latin typeface="Tahoma"/>
                <a:cs typeface="Tahoma"/>
              </a:rPr>
              <a:t>Apply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standard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formulae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theoretical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models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mixed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exposure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Tahoma"/>
                <a:cs typeface="Tahoma"/>
              </a:rPr>
              <a:t>to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similar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problems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0" dirty="0">
                <a:latin typeface="Tahoma"/>
                <a:cs typeface="Tahoma"/>
              </a:rPr>
              <a:t>P2: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endParaRPr sz="1100">
              <a:latin typeface="Tahoma"/>
              <a:cs typeface="Tahoma"/>
            </a:endParaRPr>
          </a:p>
          <a:p>
            <a:pPr marL="289560" marR="915035">
              <a:lnSpc>
                <a:spcPct val="95500"/>
              </a:lnSpc>
              <a:spcBef>
                <a:spcPts val="229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placed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problem?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conflicting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demands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developing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design?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How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were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identified?</a:t>
            </a:r>
            <a:endParaRPr sz="1000">
              <a:latin typeface="Tahoma"/>
              <a:cs typeface="Tahoma"/>
            </a:endParaRPr>
          </a:p>
          <a:p>
            <a:pPr marL="566420">
              <a:lnSpc>
                <a:spcPct val="100000"/>
              </a:lnSpc>
              <a:spcBef>
                <a:spcPts val="195"/>
              </a:spcBef>
            </a:pPr>
            <a:r>
              <a:rPr sz="900" spc="-20" dirty="0">
                <a:latin typeface="Microsoft Sans Serif"/>
                <a:cs typeface="Microsoft Sans Serif"/>
              </a:rPr>
              <a:t>they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may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have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been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part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of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the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brief,</a:t>
            </a:r>
            <a:endParaRPr sz="900">
              <a:latin typeface="Microsoft Sans Serif"/>
              <a:cs typeface="Microsoft Sans Serif"/>
            </a:endParaRPr>
          </a:p>
          <a:p>
            <a:pPr marL="566420" marR="52705">
              <a:lnSpc>
                <a:spcPct val="101499"/>
              </a:lnSpc>
            </a:pPr>
            <a:r>
              <a:rPr sz="900" spc="-20" dirty="0">
                <a:latin typeface="Microsoft Sans Serif"/>
                <a:cs typeface="Microsoft Sans Serif"/>
              </a:rPr>
              <a:t>they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may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have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only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0" dirty="0">
                <a:latin typeface="Microsoft Sans Serif"/>
                <a:cs typeface="Microsoft Sans Serif"/>
              </a:rPr>
              <a:t>become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apparent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50" dirty="0">
                <a:latin typeface="Microsoft Sans Serif"/>
                <a:cs typeface="Microsoft Sans Serif"/>
              </a:rPr>
              <a:t>once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they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started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addressing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the </a:t>
            </a:r>
            <a:r>
              <a:rPr sz="900" spc="-22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problem,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or</a:t>
            </a:r>
            <a:endParaRPr sz="900">
              <a:latin typeface="Microsoft Sans Serif"/>
              <a:cs typeface="Microsoft Sans Serif"/>
            </a:endParaRPr>
          </a:p>
          <a:p>
            <a:pPr marL="566420">
              <a:lnSpc>
                <a:spcPct val="100000"/>
              </a:lnSpc>
              <a:spcBef>
                <a:spcPts val="15"/>
              </a:spcBef>
            </a:pPr>
            <a:r>
              <a:rPr sz="900" spc="-15" dirty="0">
                <a:latin typeface="Microsoft Sans Serif"/>
                <a:cs typeface="Microsoft Sans Serif"/>
              </a:rPr>
              <a:t>the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brief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may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55" dirty="0">
                <a:latin typeface="Microsoft Sans Serif"/>
                <a:cs typeface="Microsoft Sans Serif"/>
              </a:rPr>
              <a:t>have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implied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30" dirty="0">
                <a:latin typeface="Microsoft Sans Serif"/>
                <a:cs typeface="Microsoft Sans Serif"/>
              </a:rPr>
              <a:t>or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only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referenced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20" dirty="0">
                <a:latin typeface="Microsoft Sans Serif"/>
                <a:cs typeface="Microsoft Sans Serif"/>
              </a:rPr>
              <a:t>to</a:t>
            </a:r>
            <a:r>
              <a:rPr sz="900" spc="70" dirty="0">
                <a:latin typeface="Microsoft Sans Serif"/>
                <a:cs typeface="Microsoft Sans Serif"/>
              </a:rPr>
              <a:t> </a:t>
            </a:r>
            <a:r>
              <a:rPr sz="900" spc="-15" dirty="0">
                <a:latin typeface="Microsoft Sans Serif"/>
                <a:cs typeface="Microsoft Sans Serif"/>
              </a:rPr>
              <a:t>them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loosely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8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931329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121143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72972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424800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03212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36106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550884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702712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822794"/>
            <a:ext cx="4079240" cy="212534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0" dirty="0">
                <a:latin typeface="Tahoma"/>
                <a:cs typeface="Tahoma"/>
              </a:rPr>
              <a:t>P3: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Depth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required</a:t>
            </a:r>
            <a:endParaRPr sz="1100">
              <a:latin typeface="Tahoma"/>
              <a:cs typeface="Tahoma"/>
            </a:endParaRPr>
          </a:p>
          <a:p>
            <a:pPr marL="289560" marR="4699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guidance/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given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develop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solution/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design?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There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might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multiple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Tahoma"/>
                <a:cs typeface="Tahoma"/>
              </a:rPr>
              <a:t>Students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been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given </a:t>
            </a:r>
            <a:r>
              <a:rPr sz="1000" spc="-40" dirty="0">
                <a:latin typeface="Tahoma"/>
                <a:cs typeface="Tahoma"/>
              </a:rPr>
              <a:t>clear </a:t>
            </a:r>
            <a:r>
              <a:rPr sz="1000" spc="-45" dirty="0">
                <a:latin typeface="Tahoma"/>
                <a:cs typeface="Tahoma"/>
              </a:rPr>
              <a:t>boundaries and </a:t>
            </a:r>
            <a:r>
              <a:rPr sz="1000" spc="-30" dirty="0">
                <a:latin typeface="Tahoma"/>
                <a:cs typeface="Tahoma"/>
              </a:rPr>
              <a:t>specific details of 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do,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had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define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all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boundaries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themselves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Arial"/>
                <a:cs typeface="Arial"/>
              </a:rPr>
              <a:t>limited </a:t>
            </a:r>
            <a:r>
              <a:rPr sz="1000" b="1" spc="-15" dirty="0">
                <a:latin typeface="Arial"/>
                <a:cs typeface="Arial"/>
              </a:rPr>
              <a:t> </a:t>
            </a:r>
            <a:r>
              <a:rPr sz="1000" b="1" spc="-30" dirty="0">
                <a:latin typeface="Arial"/>
                <a:cs typeface="Arial"/>
              </a:rPr>
              <a:t>information</a:t>
            </a:r>
            <a:r>
              <a:rPr sz="1000" b="1" spc="8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decide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how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should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carried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out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0"/>
              </a:lnSpc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have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been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one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regularly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encountered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20" dirty="0">
                <a:latin typeface="Tahoma"/>
                <a:cs typeface="Tahoma"/>
              </a:rPr>
              <a:t>but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slight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BC1919"/>
                </a:solidFill>
                <a:latin typeface="Tahoma"/>
                <a:cs typeface="Tahoma"/>
              </a:rPr>
              <a:t>case-specific</a:t>
            </a:r>
            <a:r>
              <a:rPr sz="1000" spc="5" dirty="0">
                <a:solidFill>
                  <a:srgbClr val="BC1919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BC1919"/>
                </a:solidFill>
                <a:latin typeface="Tahoma"/>
                <a:cs typeface="Tahoma"/>
              </a:rPr>
              <a:t>variations</a:t>
            </a:r>
            <a:r>
              <a:rPr sz="1000" spc="-30" dirty="0">
                <a:latin typeface="Tahoma"/>
                <a:cs typeface="Tahoma"/>
              </a:rPr>
              <a:t>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100" spc="-20" dirty="0">
                <a:latin typeface="Tahoma"/>
                <a:cs typeface="Tahoma"/>
              </a:rPr>
              <a:t>P4: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Familiarity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issues</a:t>
            </a:r>
            <a:endParaRPr sz="1100">
              <a:latin typeface="Tahoma"/>
              <a:cs typeface="Tahoma"/>
            </a:endParaRPr>
          </a:p>
          <a:p>
            <a:pPr marL="289560" marR="431165">
              <a:lnSpc>
                <a:spcPct val="100000"/>
              </a:lnSpc>
              <a:spcBef>
                <a:spcPts val="175"/>
              </a:spcBef>
            </a:pPr>
            <a:r>
              <a:rPr sz="1000" spc="-40" dirty="0">
                <a:latin typeface="Tahoma"/>
                <a:cs typeface="Tahoma"/>
              </a:rPr>
              <a:t>New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 </a:t>
            </a:r>
            <a:r>
              <a:rPr sz="1000" spc="-40" dirty="0">
                <a:latin typeface="Tahoma"/>
                <a:cs typeface="Tahoma"/>
              </a:rPr>
              <a:t>previously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only</a:t>
            </a:r>
            <a:r>
              <a:rPr sz="1000" spc="254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rarely</a:t>
            </a:r>
            <a:r>
              <a:rPr sz="1000" spc="229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encountered.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Familiar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many)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unique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made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resolution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difficulty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level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increased.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9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Solving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630440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807199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110856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2387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052447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204275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2356116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659773"/>
            <a:ext cx="52590" cy="5259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2969133"/>
            <a:ext cx="65265" cy="6526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3145878"/>
            <a:ext cx="52590" cy="5259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02932" y="536202"/>
            <a:ext cx="4047490" cy="285496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spc="-20" dirty="0">
                <a:latin typeface="Tahoma"/>
                <a:cs typeface="Tahoma"/>
              </a:rPr>
              <a:t>P5: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Applicable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Codes</a:t>
            </a:r>
            <a:endParaRPr sz="1100" dirty="0">
              <a:latin typeface="Tahoma"/>
              <a:cs typeface="Tahoma"/>
            </a:endParaRPr>
          </a:p>
          <a:p>
            <a:pPr marL="289560" marR="136525">
              <a:lnSpc>
                <a:spcPct val="100000"/>
              </a:lnSpc>
              <a:spcBef>
                <a:spcPts val="70"/>
              </a:spcBef>
            </a:pPr>
            <a:r>
              <a:rPr sz="1000" spc="-20" dirty="0">
                <a:latin typeface="Tahoma"/>
                <a:cs typeface="Tahoma"/>
              </a:rPr>
              <a:t>Applying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skill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address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some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parts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were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clearly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prescribed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standards,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codes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practices.</a:t>
            </a:r>
            <a:endParaRPr sz="1000" dirty="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0"/>
              </a:spcBef>
            </a:pPr>
            <a:r>
              <a:rPr sz="1000" spc="-25" dirty="0">
                <a:latin typeface="Tahoma"/>
                <a:cs typeface="Tahoma"/>
              </a:rPr>
              <a:t>Having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develop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own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criteria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(in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manner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consistent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good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practice)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because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was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so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ill-defined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5" dirty="0">
                <a:latin typeface="Tahoma"/>
                <a:cs typeface="Tahoma"/>
              </a:rPr>
              <a:t> it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not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fall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specific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standards,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codes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codified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practices.</a:t>
            </a:r>
            <a:endParaRPr sz="1000" dirty="0">
              <a:latin typeface="Tahoma"/>
              <a:cs typeface="Tahoma"/>
            </a:endParaRPr>
          </a:p>
          <a:p>
            <a:pPr marL="12700" marR="443865">
              <a:lnSpc>
                <a:spcPts val="1200"/>
              </a:lnSpc>
              <a:spcBef>
                <a:spcPts val="130"/>
              </a:spcBef>
            </a:pPr>
            <a:r>
              <a:rPr sz="1100" spc="-20" dirty="0">
                <a:latin typeface="Tahoma"/>
                <a:cs typeface="Tahoma"/>
              </a:rPr>
              <a:t>P6: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stakeholder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involvement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level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endParaRPr sz="1100" dirty="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45"/>
              </a:spcBef>
            </a:pPr>
            <a:r>
              <a:rPr sz="1000" spc="-20" dirty="0">
                <a:latin typeface="Tahoma"/>
                <a:cs typeface="Tahoma"/>
              </a:rPr>
              <a:t>Who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your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stakeholders?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their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interests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 dirty="0">
              <a:latin typeface="Tahoma"/>
              <a:cs typeface="Tahoma"/>
            </a:endParaRPr>
          </a:p>
          <a:p>
            <a:pPr marL="289560" marR="186690">
              <a:lnSpc>
                <a:spcPts val="1200"/>
              </a:lnSpc>
              <a:spcBef>
                <a:spcPts val="40"/>
              </a:spcBef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extent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these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interests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conflicted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and/or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placed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constraints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40" dirty="0">
                <a:latin typeface="Tahoma"/>
                <a:cs typeface="Tahoma"/>
              </a:rPr>
              <a:t>How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you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manage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your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stakeholders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conflicts,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meet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their</a:t>
            </a:r>
            <a:endParaRPr sz="1000" dirty="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45" dirty="0">
                <a:latin typeface="Tahoma"/>
                <a:cs typeface="Tahoma"/>
              </a:rPr>
              <a:t>requirements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reach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satisfactory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compromises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00" spc="-20" dirty="0">
                <a:latin typeface="Tahoma"/>
                <a:cs typeface="Tahoma"/>
              </a:rPr>
              <a:t>P7: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Interdependence</a:t>
            </a:r>
            <a:endParaRPr sz="1100" dirty="0">
              <a:latin typeface="Tahoma"/>
              <a:cs typeface="Tahoma"/>
            </a:endParaRPr>
          </a:p>
          <a:p>
            <a:pPr marL="289560" marR="196215">
              <a:lnSpc>
                <a:spcPct val="100000"/>
              </a:lnSpc>
              <a:spcBef>
                <a:spcPts val="70"/>
              </a:spcBef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able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broken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down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into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smaller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components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sub-problems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10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An</a:t>
            </a:r>
            <a:r>
              <a:rPr sz="1400" spc="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8544" y="520435"/>
            <a:ext cx="9683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15" dirty="0">
                <a:solidFill>
                  <a:srgbClr val="3333B2"/>
                </a:solidFill>
                <a:latin typeface="Tahoma"/>
                <a:cs typeface="Tahoma"/>
              </a:rPr>
              <a:t>Gait</a:t>
            </a:r>
            <a:r>
              <a:rPr sz="1100" spc="-30" dirty="0">
                <a:solidFill>
                  <a:srgbClr val="3333B2"/>
                </a:solidFill>
                <a:latin typeface="Tahoma"/>
                <a:cs typeface="Tahoma"/>
              </a:rPr>
              <a:t> Recognition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544" y="789202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15570">
              <a:lnSpc>
                <a:spcPct val="102600"/>
              </a:lnSpc>
              <a:spcBef>
                <a:spcPts val="55"/>
              </a:spcBef>
            </a:pPr>
            <a:r>
              <a:rPr sz="1100" spc="-40" dirty="0">
                <a:latin typeface="Tahoma"/>
                <a:cs typeface="Tahoma"/>
              </a:rPr>
              <a:t>Identifying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people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without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face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recognition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very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important.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Gait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 </a:t>
            </a:r>
            <a:r>
              <a:rPr sz="1100" spc="-50" dirty="0">
                <a:latin typeface="Tahoma"/>
                <a:cs typeface="Tahoma"/>
              </a:rPr>
              <a:t> unique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trait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helps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human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recognition.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Design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real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time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gait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recognition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system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that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use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cheap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cameras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minimal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processing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power.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1604001"/>
            <a:ext cx="4330995" cy="1799458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11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849" y="434975"/>
            <a:ext cx="1249987" cy="344697"/>
          </a:xfrm>
          <a:prstGeom prst="rect">
            <a:avLst/>
          </a:prstGeom>
        </p:spPr>
        <p:txBody>
          <a:bodyPr vert="horz" wrap="square" lIns="0" tIns="6083" rIns="0" bIns="0" rtlCol="0">
            <a:spAutoFit/>
          </a:bodyPr>
          <a:lstStyle/>
          <a:p>
            <a:pPr marL="6403">
              <a:spcBef>
                <a:spcPts val="48"/>
              </a:spcBef>
            </a:pP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Asp</a:t>
            </a:r>
            <a:r>
              <a:rPr sz="2200" dirty="0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sz="2200" spc="-5" dirty="0">
                <a:solidFill>
                  <a:srgbClr val="0000FF"/>
                </a:solidFill>
                <a:latin typeface="Calibri"/>
                <a:cs typeface="Calibri"/>
              </a:rPr>
              <a:t>cts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70203" y="964253"/>
            <a:ext cx="1303634" cy="1934119"/>
          </a:xfrm>
          <a:prstGeom prst="rect">
            <a:avLst/>
          </a:prstGeom>
        </p:spPr>
        <p:txBody>
          <a:bodyPr vert="horz" wrap="square" lIns="0" tIns="30734" rIns="0" bIns="0" rtlCol="0">
            <a:spAutoFit/>
          </a:bodyPr>
          <a:lstStyle/>
          <a:p>
            <a:pPr marL="179294" indent="-173210">
              <a:spcBef>
                <a:spcPts val="242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8" dirty="0">
                <a:latin typeface="Calibri"/>
                <a:cs typeface="Calibri"/>
              </a:rPr>
              <a:t>Economics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3" dirty="0">
                <a:latin typeface="Calibri"/>
                <a:cs typeface="Calibri"/>
              </a:rPr>
              <a:t>Social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8" dirty="0">
                <a:latin typeface="Calibri"/>
                <a:cs typeface="Calibri"/>
              </a:rPr>
              <a:t>Environment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5" dirty="0">
                <a:latin typeface="Calibri"/>
                <a:cs typeface="Calibri"/>
              </a:rPr>
              <a:t>Ethics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dirty="0">
                <a:latin typeface="Calibri"/>
                <a:cs typeface="Calibri"/>
              </a:rPr>
              <a:t>Mana</a:t>
            </a:r>
            <a:r>
              <a:rPr sz="1400" spc="-15" dirty="0">
                <a:latin typeface="Calibri"/>
                <a:cs typeface="Calibri"/>
              </a:rPr>
              <a:t>g</a:t>
            </a:r>
            <a:r>
              <a:rPr sz="1400" dirty="0">
                <a:latin typeface="Calibri"/>
                <a:cs typeface="Calibri"/>
              </a:rPr>
              <a:t>eme</a:t>
            </a:r>
            <a:r>
              <a:rPr sz="1400" spc="-15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</a:t>
            </a: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15" dirty="0">
                <a:latin typeface="Calibri"/>
                <a:cs typeface="Calibri"/>
              </a:rPr>
              <a:t>Technology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5" dirty="0">
                <a:latin typeface="Calibri"/>
                <a:cs typeface="Calibri"/>
              </a:rPr>
              <a:t>Analysis</a:t>
            </a:r>
            <a:endParaRPr sz="1400" dirty="0">
              <a:latin typeface="Calibri"/>
              <a:cs typeface="Calibri"/>
            </a:endParaRPr>
          </a:p>
          <a:p>
            <a:pPr marL="179294" indent="-173210">
              <a:spcBef>
                <a:spcPts val="194"/>
              </a:spcBef>
              <a:buFont typeface="Arial MT"/>
              <a:buChar char="•"/>
              <a:tabLst>
                <a:tab pos="179294" algn="l"/>
                <a:tab pos="179614" algn="l"/>
              </a:tabLst>
            </a:pPr>
            <a:r>
              <a:rPr sz="1400" spc="-10" dirty="0">
                <a:latin typeface="Calibri"/>
                <a:cs typeface="Calibri"/>
              </a:rPr>
              <a:t>Evaluation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C294B05F-1E74-62DC-6CE4-1CDBDC6ABE1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63F0110C-216B-F77A-1FDC-845DCB6EEB55}"/>
              </a:ext>
            </a:extLst>
          </p:cNvPr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12</a:t>
            </a:fld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3076" name="Picture 4" descr="Berkunjung ke Jepang (Bag. 2): Ke JAIST Merajut Kolaborasi | Catatanku">
            <a:extLst>
              <a:ext uri="{FF2B5EF4-FFF2-40B4-BE49-F238E27FC236}">
                <a16:creationId xmlns:a16="http://schemas.microsoft.com/office/drawing/2014/main" id="{2A8FC958-9470-229A-C4AE-15662B8B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278" y="1007387"/>
            <a:ext cx="2476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960" y="519519"/>
            <a:ext cx="1271290" cy="344697"/>
          </a:xfrm>
          <a:prstGeom prst="rect">
            <a:avLst/>
          </a:prstGeom>
        </p:spPr>
        <p:txBody>
          <a:bodyPr vert="horz" wrap="square" lIns="0" tIns="6083" rIns="0" bIns="0" rtlCol="0">
            <a:spAutoFit/>
          </a:bodyPr>
          <a:lstStyle/>
          <a:p>
            <a:pPr marL="6403">
              <a:spcBef>
                <a:spcPts val="48"/>
              </a:spcBef>
            </a:pP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Thinking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687" y="896316"/>
            <a:ext cx="1908709" cy="1871808"/>
          </a:xfrm>
          <a:prstGeom prst="rect">
            <a:avLst/>
          </a:prstGeom>
        </p:spPr>
        <p:txBody>
          <a:bodyPr vert="horz" wrap="square" lIns="0" tIns="55385" rIns="0" bIns="0" rtlCol="0">
            <a:spAutoFit/>
          </a:bodyPr>
          <a:lstStyle/>
          <a:p>
            <a:pPr marL="179294" indent="-172890">
              <a:spcBef>
                <a:spcPts val="43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lang="en-GB" sz="1400" spc="-8" dirty="0">
                <a:latin typeface="Calibri"/>
                <a:cs typeface="Calibri"/>
              </a:rPr>
              <a:t>Subject’s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condition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lang="en-GB" sz="1400" spc="-10" dirty="0">
                <a:latin typeface="Calibri"/>
                <a:cs typeface="Calibri"/>
              </a:rPr>
              <a:t>Light exposure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8" dirty="0">
                <a:latin typeface="Calibri"/>
                <a:cs typeface="Calibri"/>
              </a:rPr>
              <a:t>Available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technology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lang="en-GB" sz="1400" spc="-3" dirty="0">
                <a:latin typeface="Calibri"/>
                <a:cs typeface="Calibri"/>
              </a:rPr>
              <a:t>Development tools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3" dirty="0">
                <a:latin typeface="Calibri"/>
                <a:cs typeface="Calibri"/>
              </a:rPr>
              <a:t>Design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5" dirty="0">
                <a:latin typeface="Calibri"/>
                <a:cs typeface="Calibri"/>
              </a:rPr>
              <a:t>Costing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3" dirty="0">
                <a:latin typeface="Calibri"/>
                <a:cs typeface="Calibri"/>
              </a:rPr>
              <a:t>Scheduling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0BA4CC3F-63D7-3FDE-FD60-97AD514AFF6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AAEEA351-DA21-8377-7F7B-23BEFFD92EE4}"/>
              </a:ext>
            </a:extLst>
          </p:cNvPr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13</a:t>
            </a:fld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1026" name="Picture 2" descr="UIU Mars Rover">
            <a:extLst>
              <a:ext uri="{FF2B5EF4-FFF2-40B4-BE49-F238E27FC236}">
                <a16:creationId xmlns:a16="http://schemas.microsoft.com/office/drawing/2014/main" id="{E7665A60-035F-D8D1-5769-53D183995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8590" y="587375"/>
            <a:ext cx="1646710" cy="219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888" y="819624"/>
            <a:ext cx="1495762" cy="344697"/>
          </a:xfrm>
          <a:prstGeom prst="rect">
            <a:avLst/>
          </a:prstGeom>
        </p:spPr>
        <p:txBody>
          <a:bodyPr vert="horz" wrap="square" lIns="0" tIns="6083" rIns="0" bIns="0" rtlCol="0">
            <a:spAutoFit/>
          </a:bodyPr>
          <a:lstStyle/>
          <a:p>
            <a:pPr marL="6403">
              <a:spcBef>
                <a:spcPts val="48"/>
              </a:spcBef>
            </a:pP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Soluti</a:t>
            </a:r>
            <a:r>
              <a:rPr sz="2200" spc="-10" dirty="0">
                <a:solidFill>
                  <a:srgbClr val="0000FF"/>
                </a:solidFill>
                <a:latin typeface="Calibri"/>
                <a:cs typeface="Calibri"/>
              </a:rPr>
              <a:t>o</a:t>
            </a:r>
            <a:r>
              <a:rPr sz="2200" spc="-3" dirty="0">
                <a:solidFill>
                  <a:srgbClr val="0000FF"/>
                </a:solidFill>
                <a:latin typeface="Calibri"/>
                <a:cs typeface="Calibri"/>
              </a:rPr>
              <a:t>ns?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049" y="1259364"/>
            <a:ext cx="2116484" cy="1071912"/>
          </a:xfrm>
          <a:prstGeom prst="rect">
            <a:avLst/>
          </a:prstGeom>
        </p:spPr>
        <p:txBody>
          <a:bodyPr vert="horz" wrap="square" lIns="0" tIns="55705" rIns="0" bIns="0" rtlCol="0">
            <a:spAutoFit/>
          </a:bodyPr>
          <a:lstStyle/>
          <a:p>
            <a:pPr marL="179294" indent="-172890">
              <a:spcBef>
                <a:spcPts val="43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5" dirty="0">
                <a:latin typeface="Calibri"/>
                <a:cs typeface="Calibri"/>
              </a:rPr>
              <a:t>Problem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solving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3" dirty="0">
                <a:latin typeface="Calibri"/>
                <a:cs typeface="Calibri"/>
              </a:rPr>
              <a:t>skills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8" dirty="0">
                <a:latin typeface="Calibri"/>
                <a:cs typeface="Calibri"/>
              </a:rPr>
              <a:t>Formulate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problem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8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10" dirty="0">
                <a:latin typeface="Calibri"/>
                <a:cs typeface="Calibri"/>
              </a:rPr>
              <a:t>Literature</a:t>
            </a:r>
            <a:endParaRPr sz="1400" dirty="0">
              <a:latin typeface="Calibri"/>
              <a:cs typeface="Calibri"/>
            </a:endParaRPr>
          </a:p>
          <a:p>
            <a:pPr marL="179294" indent="-172890">
              <a:spcBef>
                <a:spcPts val="386"/>
              </a:spcBef>
              <a:buFont typeface="Arial MT"/>
              <a:buChar char="•"/>
              <a:tabLst>
                <a:tab pos="178973" algn="l"/>
                <a:tab pos="179294" algn="l"/>
              </a:tabLst>
            </a:pPr>
            <a:r>
              <a:rPr sz="1400" spc="-3" dirty="0">
                <a:latin typeface="Calibri"/>
                <a:cs typeface="Calibri"/>
              </a:rPr>
              <a:t>Experiment?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F78C092C-A951-4DA3-F682-E20C516892E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2963528" y="3346277"/>
            <a:ext cx="1072514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A870061A-F9B6-BFD6-EB76-B691499A8E3F}"/>
              </a:ext>
            </a:extLst>
          </p:cNvPr>
          <p:cNvSpPr txBox="1"/>
          <p:nvPr/>
        </p:nvSpPr>
        <p:spPr>
          <a:xfrm>
            <a:off x="4349747" y="3346277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14</a:t>
            </a:fld>
            <a:endParaRPr sz="600">
              <a:latin typeface="Microsoft Sans Serif"/>
              <a:cs typeface="Microsoft Sans Serif"/>
            </a:endParaRPr>
          </a:p>
        </p:txBody>
      </p:sp>
      <p:pic>
        <p:nvPicPr>
          <p:cNvPr id="2050" name="Picture 2" descr="UIU MARS ROVER TEAM | TELOS | ICARUS | URC SAR 2023 - YouTube">
            <a:extLst>
              <a:ext uri="{FF2B5EF4-FFF2-40B4-BE49-F238E27FC236}">
                <a16:creationId xmlns:a16="http://schemas.microsoft.com/office/drawing/2014/main" id="{355A9A7B-72A4-3779-FC8C-FF7F95A6F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264" y="1006664"/>
            <a:ext cx="2186963" cy="1638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1:</a:t>
            </a:r>
            <a:r>
              <a:rPr sz="1400" spc="19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Define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the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problem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544" y="129744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320" y="1639087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1790916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1942744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2094572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239824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320" y="2550071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4388" y="1213991"/>
            <a:ext cx="1913889" cy="142938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735330">
              <a:lnSpc>
                <a:spcPts val="1200"/>
              </a:lnSpc>
              <a:spcBef>
                <a:spcPts val="229"/>
              </a:spcBef>
            </a:pP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(P2)</a:t>
            </a:r>
            <a:endParaRPr sz="1100">
              <a:latin typeface="Tahoma"/>
              <a:cs typeface="Tahoma"/>
            </a:endParaRPr>
          </a:p>
          <a:p>
            <a:pPr marL="289560" marR="552450">
              <a:lnSpc>
                <a:spcPct val="100000"/>
              </a:lnSpc>
              <a:spcBef>
                <a:spcPts val="150"/>
              </a:spcBef>
            </a:pPr>
            <a:r>
              <a:rPr sz="1000" spc="-15" dirty="0">
                <a:latin typeface="Tahoma"/>
                <a:cs typeface="Tahoma"/>
              </a:rPr>
              <a:t>High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accuracy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Cheap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video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camera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35" dirty="0">
                <a:latin typeface="Tahoma"/>
                <a:cs typeface="Tahoma"/>
              </a:rPr>
              <a:t>Low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processing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power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5"/>
              </a:spcBef>
            </a:pPr>
            <a:r>
              <a:rPr sz="1000" spc="60" dirty="0">
                <a:latin typeface="Tahoma"/>
                <a:cs typeface="Tahoma"/>
              </a:rPr>
              <a:t>A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person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might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walk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from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any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angle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50" dirty="0">
                <a:latin typeface="Tahoma"/>
                <a:cs typeface="Tahoma"/>
              </a:rPr>
              <a:t>Lower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light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45" dirty="0">
                <a:latin typeface="Tahoma"/>
                <a:cs typeface="Tahoma"/>
              </a:rPr>
              <a:t>Few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shot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learning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5306" y="926396"/>
            <a:ext cx="2078944" cy="207894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15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2:</a:t>
            </a:r>
            <a:r>
              <a:rPr sz="1400" spc="19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Gather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Information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97941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624711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192836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2232037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2535694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687" y="2839351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6755" y="895958"/>
            <a:ext cx="2305050" cy="20370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126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Range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(P2)</a:t>
            </a:r>
            <a:endParaRPr sz="1100">
              <a:latin typeface="Tahoma"/>
              <a:cs typeface="Tahoma"/>
            </a:endParaRPr>
          </a:p>
          <a:p>
            <a:pPr marL="12700" marR="24130">
              <a:lnSpc>
                <a:spcPts val="1200"/>
              </a:lnSpc>
              <a:spcBef>
                <a:spcPts val="75"/>
              </a:spcBef>
            </a:pPr>
            <a:r>
              <a:rPr sz="1100" spc="120" dirty="0">
                <a:latin typeface="Tahoma"/>
                <a:cs typeface="Tahoma"/>
              </a:rPr>
              <a:t>/ </a:t>
            </a:r>
            <a:r>
              <a:rPr sz="1100" spc="-20" dirty="0">
                <a:latin typeface="Tahoma"/>
                <a:cs typeface="Tahoma"/>
              </a:rPr>
              <a:t>Familiarity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60" dirty="0">
                <a:latin typeface="Tahoma"/>
                <a:cs typeface="Tahoma"/>
              </a:rPr>
              <a:t>issues </a:t>
            </a:r>
            <a:r>
              <a:rPr sz="1100" spc="5" dirty="0">
                <a:latin typeface="Tahoma"/>
                <a:cs typeface="Tahoma"/>
              </a:rPr>
              <a:t>(P4) </a:t>
            </a:r>
            <a:r>
              <a:rPr sz="1100" spc="120" dirty="0">
                <a:latin typeface="Tahoma"/>
                <a:cs typeface="Tahoma"/>
              </a:rPr>
              <a:t>/ </a:t>
            </a:r>
            <a:r>
              <a:rPr sz="1100" spc="-20" dirty="0">
                <a:latin typeface="Tahoma"/>
                <a:cs typeface="Tahoma"/>
              </a:rPr>
              <a:t>Extent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stakeholder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involvement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level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conflicting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requirements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(P6)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existing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problem?</a:t>
            </a:r>
            <a:endParaRPr sz="1000">
              <a:latin typeface="Tahoma"/>
              <a:cs typeface="Tahoma"/>
            </a:endParaRPr>
          </a:p>
          <a:p>
            <a:pPr marL="289560" marR="78105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wrong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way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currently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solved?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What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available </a:t>
            </a:r>
            <a:r>
              <a:rPr sz="1000" spc="-40" dirty="0">
                <a:latin typeface="Tahoma"/>
                <a:cs typeface="Tahoma"/>
              </a:rPr>
              <a:t>video </a:t>
            </a:r>
            <a:r>
              <a:rPr sz="1000" spc="-45" dirty="0">
                <a:latin typeface="Tahoma"/>
                <a:cs typeface="Tahoma"/>
              </a:rPr>
              <a:t>camera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processors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available?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0"/>
              </a:lnSpc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cost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existing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5"/>
              </a:lnSpc>
            </a:pPr>
            <a:r>
              <a:rPr sz="1000" spc="-30" dirty="0">
                <a:latin typeface="Tahoma"/>
                <a:cs typeface="Tahoma"/>
              </a:rPr>
              <a:t>solutions?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other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factors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important?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83293" y="1085319"/>
            <a:ext cx="1732340" cy="173234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49747" y="3334918"/>
            <a:ext cx="15748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latin typeface="Microsoft Sans Serif"/>
                <a:cs typeface="Microsoft Sans Serif"/>
              </a:rPr>
              <a:t>16</a:t>
            </a:fld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3:</a:t>
            </a:r>
            <a:r>
              <a:rPr sz="1400" spc="19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90" dirty="0">
                <a:solidFill>
                  <a:schemeClr val="accent1"/>
                </a:solidFill>
                <a:latin typeface="Trebuchet MS"/>
                <a:cs typeface="Trebuchet MS"/>
              </a:rPr>
              <a:t>Generate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Multiple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Solutions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088466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278280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1733778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037435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492933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64476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796590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56755" y="979958"/>
            <a:ext cx="1908175" cy="19100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89560" marR="153035" indent="-277495">
              <a:lnSpc>
                <a:spcPct val="106400"/>
              </a:lnSpc>
              <a:spcBef>
                <a:spcPts val="200"/>
              </a:spcBef>
            </a:pP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(P3) 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Generate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images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image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features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using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image</a:t>
            </a:r>
            <a:endParaRPr sz="1000">
              <a:latin typeface="Tahoma"/>
              <a:cs typeface="Tahoma"/>
            </a:endParaRPr>
          </a:p>
          <a:p>
            <a:pPr marL="289560" marR="240665">
              <a:lnSpc>
                <a:spcPts val="1200"/>
              </a:lnSpc>
              <a:spcBef>
                <a:spcPts val="40"/>
              </a:spcBef>
            </a:pPr>
            <a:r>
              <a:rPr sz="1000" spc="-45" dirty="0">
                <a:latin typeface="Tahoma"/>
                <a:cs typeface="Tahoma"/>
              </a:rPr>
              <a:t>processing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techniques 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Generate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milestones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using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pose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estimation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45"/>
              </a:lnSpc>
            </a:pPr>
            <a:r>
              <a:rPr sz="1000" spc="5" dirty="0">
                <a:latin typeface="Tahoma"/>
                <a:cs typeface="Tahoma"/>
              </a:rPr>
              <a:t>Might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normalize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them</a:t>
            </a:r>
            <a:endParaRPr sz="1000">
              <a:latin typeface="Tahoma"/>
              <a:cs typeface="Tahoma"/>
            </a:endParaRPr>
          </a:p>
          <a:p>
            <a:pPr marL="289560" marR="206375">
              <a:lnSpc>
                <a:spcPts val="1200"/>
              </a:lnSpc>
              <a:spcBef>
                <a:spcPts val="35"/>
              </a:spcBef>
            </a:pPr>
            <a:r>
              <a:rPr sz="1000" spc="-55" dirty="0">
                <a:latin typeface="Tahoma"/>
                <a:cs typeface="Tahoma"/>
              </a:rPr>
              <a:t>based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environment,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angle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orientation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augmentation</a:t>
            </a:r>
            <a:endParaRPr sz="1000">
              <a:latin typeface="Tahoma"/>
              <a:cs typeface="Tahoma"/>
            </a:endParaRPr>
          </a:p>
          <a:p>
            <a:pPr marL="289560" marR="287655">
              <a:lnSpc>
                <a:spcPts val="1200"/>
              </a:lnSpc>
              <a:spcBef>
                <a:spcPts val="40"/>
              </a:spcBef>
            </a:pPr>
            <a:r>
              <a:rPr sz="1000" spc="-20" dirty="0">
                <a:latin typeface="Tahoma"/>
                <a:cs typeface="Tahoma"/>
              </a:rPr>
              <a:t>Train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few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shot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models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Prepare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inference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models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0185" y="891806"/>
            <a:ext cx="2165426" cy="216542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17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4:</a:t>
            </a:r>
            <a:r>
              <a:rPr sz="1400" spc="19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Analyse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and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5" dirty="0">
                <a:solidFill>
                  <a:schemeClr val="accent1"/>
                </a:solidFill>
                <a:latin typeface="Trebuchet MS"/>
                <a:cs typeface="Trebuchet MS"/>
              </a:rPr>
              <a:t>selection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solution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949261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483220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00176" y="889933"/>
            <a:ext cx="2081074" cy="202715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(P1)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120" dirty="0">
                <a:latin typeface="Tahoma"/>
                <a:cs typeface="Tahoma"/>
              </a:rPr>
              <a:t>/ 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(P3)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120" dirty="0">
                <a:latin typeface="Tahoma"/>
                <a:cs typeface="Tahoma"/>
              </a:rPr>
              <a:t>/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Extent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Applicable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Codes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(P5)</a:t>
            </a:r>
            <a:endParaRPr sz="1100" dirty="0">
              <a:latin typeface="Tahoma"/>
              <a:cs typeface="Tahoma"/>
            </a:endParaRPr>
          </a:p>
          <a:p>
            <a:pPr marL="289560" marR="57150">
              <a:lnSpc>
                <a:spcPct val="100000"/>
              </a:lnSpc>
              <a:spcBef>
                <a:spcPts val="175"/>
              </a:spcBef>
            </a:pPr>
            <a:r>
              <a:rPr sz="1000" spc="-25" dirty="0">
                <a:latin typeface="Tahoma"/>
                <a:cs typeface="Tahoma"/>
              </a:rPr>
              <a:t>Analysis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design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design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problem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unique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different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types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 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analysis</a:t>
            </a:r>
            <a:endParaRPr sz="1000" dirty="0">
              <a:latin typeface="Tahoma"/>
              <a:cs typeface="Tahoma"/>
            </a:endParaRPr>
          </a:p>
          <a:p>
            <a:pPr marL="737870" marR="407670" indent="-171450">
              <a:lnSpc>
                <a:spcPct val="101499"/>
              </a:lnSpc>
              <a:spcBef>
                <a:spcPts val="165"/>
              </a:spcBef>
              <a:buFont typeface="Arial" panose="020B0604020202020204" pitchFamily="34" charset="0"/>
              <a:buChar char="•"/>
            </a:pPr>
            <a:r>
              <a:rPr sz="900" spc="-20" dirty="0">
                <a:latin typeface="Microsoft Sans Serif"/>
                <a:cs typeface="Microsoft Sans Serif"/>
              </a:rPr>
              <a:t>Functional</a:t>
            </a:r>
            <a:r>
              <a:rPr sz="900" spc="3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analysis </a:t>
            </a:r>
            <a:endParaRPr sz="900" dirty="0">
              <a:latin typeface="Microsoft Sans Serif"/>
              <a:cs typeface="Microsoft Sans Serif"/>
            </a:endParaRPr>
          </a:p>
          <a:p>
            <a:pPr marL="737870" marR="12065" indent="-171450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900" spc="-5" dirty="0">
                <a:latin typeface="Microsoft Sans Serif"/>
                <a:cs typeface="Microsoft Sans Serif"/>
              </a:rPr>
              <a:t>Product</a:t>
            </a:r>
            <a:r>
              <a:rPr sz="900" spc="50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safety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and</a:t>
            </a:r>
            <a:r>
              <a:rPr sz="900" spc="50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liability</a:t>
            </a:r>
            <a:endParaRPr lang="en-GB" sz="900" dirty="0">
              <a:latin typeface="Microsoft Sans Serif"/>
              <a:cs typeface="Microsoft Sans Serif"/>
            </a:endParaRPr>
          </a:p>
          <a:p>
            <a:pPr marL="737870" marR="12065" indent="-171450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900" spc="-30" dirty="0">
                <a:latin typeface="Microsoft Sans Serif"/>
                <a:cs typeface="Microsoft Sans Serif"/>
              </a:rPr>
              <a:t>Economic </a:t>
            </a:r>
            <a:r>
              <a:rPr sz="900" spc="-40" dirty="0">
                <a:latin typeface="Microsoft Sans Serif"/>
                <a:cs typeface="Microsoft Sans Serif"/>
              </a:rPr>
              <a:t>and</a:t>
            </a:r>
            <a:r>
              <a:rPr sz="900" spc="-35" dirty="0">
                <a:latin typeface="Microsoft Sans Serif"/>
                <a:cs typeface="Microsoft Sans Serif"/>
              </a:rPr>
              <a:t> </a:t>
            </a:r>
            <a:r>
              <a:rPr sz="900" spc="-25" dirty="0">
                <a:latin typeface="Microsoft Sans Serif"/>
                <a:cs typeface="Microsoft Sans Serif"/>
              </a:rPr>
              <a:t>market</a:t>
            </a:r>
            <a:r>
              <a:rPr lang="en-GB" sz="900" spc="-25" dirty="0">
                <a:latin typeface="Microsoft Sans Serif"/>
                <a:cs typeface="Microsoft Sans Serif"/>
              </a:rPr>
              <a:t> </a:t>
            </a:r>
            <a:r>
              <a:rPr sz="900" spc="-45" dirty="0">
                <a:latin typeface="Microsoft Sans Serif"/>
                <a:cs typeface="Microsoft Sans Serif"/>
              </a:rPr>
              <a:t>analysis</a:t>
            </a:r>
            <a:endParaRPr sz="900" dirty="0">
              <a:latin typeface="Microsoft Sans Serif"/>
              <a:cs typeface="Microsoft Sans Serif"/>
            </a:endParaRPr>
          </a:p>
          <a:p>
            <a:pPr marL="737870" marR="179705" indent="-171450">
              <a:lnSpc>
                <a:spcPct val="101499"/>
              </a:lnSpc>
              <a:buFont typeface="Arial" panose="020B0604020202020204" pitchFamily="34" charset="0"/>
              <a:buChar char="•"/>
            </a:pPr>
            <a:r>
              <a:rPr sz="900" spc="-35" dirty="0">
                <a:latin typeface="Microsoft Sans Serif"/>
                <a:cs typeface="Microsoft Sans Serif"/>
              </a:rPr>
              <a:t>Analysis</a:t>
            </a:r>
            <a:r>
              <a:rPr sz="900" spc="35" dirty="0">
                <a:latin typeface="Microsoft Sans Serif"/>
                <a:cs typeface="Microsoft Sans Serif"/>
              </a:rPr>
              <a:t> </a:t>
            </a:r>
            <a:r>
              <a:rPr sz="900" spc="-35" dirty="0">
                <a:latin typeface="Microsoft Sans Serif"/>
                <a:cs typeface="Microsoft Sans Serif"/>
              </a:rPr>
              <a:t>under</a:t>
            </a:r>
            <a:r>
              <a:rPr sz="900" spc="40" dirty="0">
                <a:latin typeface="Microsoft Sans Serif"/>
                <a:cs typeface="Microsoft Sans Serif"/>
              </a:rPr>
              <a:t> </a:t>
            </a:r>
            <a:r>
              <a:rPr sz="900" spc="-10" dirty="0">
                <a:latin typeface="Microsoft Sans Serif"/>
                <a:cs typeface="Microsoft Sans Serif"/>
              </a:rPr>
              <a:t>different</a:t>
            </a:r>
            <a:r>
              <a:rPr lang="en-GB" sz="900" spc="-10" dirty="0">
                <a:latin typeface="Microsoft Sans Serif"/>
                <a:cs typeface="Microsoft Sans Serif"/>
              </a:rPr>
              <a:t> </a:t>
            </a:r>
            <a:r>
              <a:rPr sz="900" spc="-5" dirty="0">
                <a:latin typeface="Microsoft Sans Serif"/>
                <a:cs typeface="Microsoft Sans Serif"/>
              </a:rPr>
              <a:t>lighting</a:t>
            </a:r>
            <a:r>
              <a:rPr sz="900" spc="5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conditions</a:t>
            </a:r>
            <a:endParaRPr sz="900" dirty="0">
              <a:latin typeface="Microsoft Sans Serif"/>
              <a:cs typeface="Microsoft Sans Serif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0185" y="891806"/>
            <a:ext cx="2165426" cy="216542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18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Step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5:</a:t>
            </a:r>
            <a:r>
              <a:rPr sz="1400" spc="20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Test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and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implement</a:t>
            </a:r>
            <a:r>
              <a:rPr sz="1400" spc="4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5" dirty="0">
                <a:solidFill>
                  <a:schemeClr val="accent1"/>
                </a:solidFill>
                <a:latin typeface="Trebuchet MS"/>
                <a:cs typeface="Trebuchet MS"/>
              </a:rPr>
              <a:t>a</a:t>
            </a: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solution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160976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971637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2123478"/>
            <a:ext cx="52590" cy="5259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6755" y="1526310"/>
            <a:ext cx="1858645" cy="8426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Extent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applicable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codes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(P5)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120" dirty="0">
                <a:latin typeface="Tahoma"/>
                <a:cs typeface="Tahoma"/>
              </a:rPr>
              <a:t>/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Interdependence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5" dirty="0">
                <a:latin typeface="Tahoma"/>
                <a:cs typeface="Tahoma"/>
              </a:rPr>
              <a:t>(P7)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ts val="12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Prototyping</a:t>
            </a:r>
            <a:endParaRPr sz="1000">
              <a:latin typeface="Tahoma"/>
              <a:cs typeface="Tahoma"/>
            </a:endParaRPr>
          </a:p>
          <a:p>
            <a:pPr marL="289560" marR="156210">
              <a:lnSpc>
                <a:spcPts val="1200"/>
              </a:lnSpc>
              <a:spcBef>
                <a:spcPts val="35"/>
              </a:spcBef>
            </a:pPr>
            <a:r>
              <a:rPr sz="1000" spc="-30" dirty="0">
                <a:latin typeface="Tahoma"/>
                <a:cs typeface="Tahoma"/>
              </a:rPr>
              <a:t>Documenting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solution,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planning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0185" y="891806"/>
            <a:ext cx="2165426" cy="21654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19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Another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7" y="1054684"/>
            <a:ext cx="18700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Illegal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Bowling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Tahoma"/>
                <a:cs typeface="Tahoma"/>
              </a:rPr>
              <a:t>Action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67" y="1213991"/>
            <a:ext cx="2267585" cy="1740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2720">
              <a:lnSpc>
                <a:spcPct val="102600"/>
              </a:lnSpc>
              <a:spcBef>
                <a:spcPts val="55"/>
              </a:spcBef>
            </a:pP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cricket,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popular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game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actions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done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laboratories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bio-metric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25" dirty="0">
                <a:latin typeface="Tahoma"/>
                <a:cs typeface="Tahoma"/>
              </a:rPr>
              <a:t>historically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umpires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called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certain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bowlers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field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resulted </a:t>
            </a:r>
            <a:r>
              <a:rPr sz="1100" spc="-20" dirty="0">
                <a:latin typeface="Tahoma"/>
                <a:cs typeface="Tahoma"/>
              </a:rPr>
              <a:t>intro </a:t>
            </a:r>
            <a:r>
              <a:rPr sz="1100" spc="-45" dirty="0">
                <a:latin typeface="Tahoma"/>
                <a:cs typeface="Tahoma"/>
              </a:rPr>
              <a:t>controversies.</a:t>
            </a:r>
            <a:r>
              <a:rPr sz="1100" spc="-40" dirty="0">
                <a:latin typeface="Tahoma"/>
                <a:cs typeface="Tahoma"/>
              </a:rPr>
              <a:t> Design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on-field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detection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3268" y="692472"/>
            <a:ext cx="1299424" cy="266382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20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Another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7" y="863244"/>
            <a:ext cx="18700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Illegal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Bowling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Tahoma"/>
                <a:cs typeface="Tahoma"/>
              </a:rPr>
              <a:t>Action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667" y="1022551"/>
            <a:ext cx="2112645" cy="21228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cricket,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popular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game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actions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done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laboratories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bio-metric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25" dirty="0">
                <a:latin typeface="Tahoma"/>
                <a:cs typeface="Tahoma"/>
              </a:rPr>
              <a:t>historically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umpires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called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certain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bowlers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field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resulted </a:t>
            </a:r>
            <a:r>
              <a:rPr sz="1100" spc="-20" dirty="0">
                <a:latin typeface="Tahoma"/>
                <a:cs typeface="Tahoma"/>
              </a:rPr>
              <a:t>intro </a:t>
            </a:r>
            <a:r>
              <a:rPr sz="1100" spc="-45" dirty="0">
                <a:latin typeface="Tahoma"/>
                <a:cs typeface="Tahoma"/>
              </a:rPr>
              <a:t>controversies.</a:t>
            </a:r>
            <a:r>
              <a:rPr sz="1100" spc="-40" dirty="0">
                <a:latin typeface="Tahoma"/>
                <a:cs typeface="Tahoma"/>
              </a:rPr>
              <a:t> Design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on-field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detection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  <a:p>
            <a:pPr marL="289560" marR="372745">
              <a:lnSpc>
                <a:spcPct val="102600"/>
              </a:lnSpc>
              <a:spcBef>
                <a:spcPts val="300"/>
              </a:spcBef>
            </a:pPr>
            <a:r>
              <a:rPr sz="1100" spc="-20" dirty="0">
                <a:latin typeface="Tahoma"/>
                <a:cs typeface="Tahoma"/>
              </a:rPr>
              <a:t>P1: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Depth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Knowledge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Required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3268" y="694021"/>
            <a:ext cx="1299241" cy="2659985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21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45" dirty="0">
                <a:solidFill>
                  <a:schemeClr val="accent1"/>
                </a:solidFill>
                <a:latin typeface="Trebuchet MS"/>
                <a:cs typeface="Trebuchet MS"/>
              </a:rPr>
              <a:t>Another</a:t>
            </a:r>
            <a:r>
              <a:rPr sz="1400" spc="1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5" dirty="0">
                <a:solidFill>
                  <a:schemeClr val="accent1"/>
                </a:solidFill>
                <a:latin typeface="Trebuchet MS"/>
                <a:cs typeface="Trebuchet MS"/>
              </a:rPr>
              <a:t>Example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7" y="1007440"/>
            <a:ext cx="1870075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spc="-45" dirty="0">
                <a:solidFill>
                  <a:srgbClr val="3333B2"/>
                </a:solidFill>
                <a:latin typeface="Tahoma"/>
                <a:cs typeface="Tahoma"/>
              </a:rPr>
              <a:t>Illegal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Bowling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5" dirty="0">
                <a:solidFill>
                  <a:srgbClr val="3333B2"/>
                </a:solidFill>
                <a:latin typeface="Tahoma"/>
                <a:cs typeface="Tahoma"/>
              </a:rPr>
              <a:t>Action</a:t>
            </a:r>
            <a:r>
              <a:rPr sz="1100" spc="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</a:rPr>
              <a:t>Detection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367" y="1166747"/>
            <a:ext cx="2267585" cy="174053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R="172720">
              <a:lnSpc>
                <a:spcPct val="102600"/>
              </a:lnSpc>
              <a:spcBef>
                <a:spcPts val="55"/>
              </a:spcBef>
            </a:pP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cricket,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popular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game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often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analysis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actions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done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laboratories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using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bio-metric 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In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practice, </a:t>
            </a:r>
            <a:r>
              <a:rPr sz="1100" spc="-25" dirty="0">
                <a:latin typeface="Tahoma"/>
                <a:cs typeface="Tahoma"/>
              </a:rPr>
              <a:t>historically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umpires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have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called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certain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bowlers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field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45" dirty="0">
                <a:latin typeface="Tahoma"/>
                <a:cs typeface="Tahoma"/>
              </a:rPr>
              <a:t> resulted </a:t>
            </a:r>
            <a:r>
              <a:rPr sz="1100" spc="-20" dirty="0">
                <a:latin typeface="Tahoma"/>
                <a:cs typeface="Tahoma"/>
              </a:rPr>
              <a:t>intro </a:t>
            </a:r>
            <a:r>
              <a:rPr sz="1100" spc="-45" dirty="0">
                <a:latin typeface="Tahoma"/>
                <a:cs typeface="Tahoma"/>
              </a:rPr>
              <a:t>controversies.</a:t>
            </a:r>
            <a:r>
              <a:rPr sz="1100" spc="-40" dirty="0">
                <a:latin typeface="Tahoma"/>
                <a:cs typeface="Tahoma"/>
              </a:rPr>
              <a:t> Design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develop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video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based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on-field 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illegal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bowling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action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detection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system.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0185" y="881443"/>
            <a:ext cx="2165438" cy="219137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22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23</a:t>
            </a:fld>
            <a:endParaRPr spc="-2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9646" y="1017574"/>
          <a:ext cx="4264023" cy="1713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b="1" spc="-5" dirty="0">
                          <a:latin typeface="Arial"/>
                          <a:cs typeface="Arial"/>
                        </a:rPr>
                        <a:t>Attribute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40" dirty="0">
                          <a:latin typeface="Arial"/>
                          <a:cs typeface="Arial"/>
                        </a:rPr>
                        <a:t>Complex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activities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means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(engineering)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activities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projects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25" dirty="0">
                          <a:latin typeface="Microsoft Sans Serif"/>
                          <a:cs typeface="Microsoft Sans Serif"/>
                        </a:rPr>
                        <a:t>that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some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all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following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characteristics: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800" spc="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resources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A1:</a:t>
                      </a:r>
                      <a:r>
                        <a:rPr sz="800" b="1" spc="3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5" dirty="0">
                          <a:latin typeface="Microsoft Sans Serif"/>
                          <a:cs typeface="Microsoft Sans Serif"/>
                        </a:rPr>
                        <a:t>use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diverse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resources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(and</a:t>
                      </a:r>
                      <a:r>
                        <a:rPr sz="800" spc="1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this</a:t>
                      </a:r>
                      <a:r>
                        <a:rPr sz="800" spc="1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purpose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310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resources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include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people,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money,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equipment,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materials,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informa-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5" dirty="0">
                          <a:latin typeface="Microsoft Sans Serif"/>
                          <a:cs typeface="Microsoft Sans Serif"/>
                        </a:rPr>
                        <a:t>tion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technologies)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8">
                <a:tc>
                  <a:txBody>
                    <a:bodyPr/>
                    <a:lstStyle/>
                    <a:p>
                      <a:pPr marL="75565">
                        <a:lnSpc>
                          <a:spcPts val="844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Level</a:t>
                      </a:r>
                      <a:r>
                        <a:rPr sz="8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interaction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A2:</a:t>
                      </a:r>
                      <a:r>
                        <a:rPr sz="800" b="1" spc="1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Require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resolution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significant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problems</a:t>
                      </a:r>
                      <a:r>
                        <a:rPr sz="800" spc="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arising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from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inter-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 marR="67945">
                        <a:lnSpc>
                          <a:spcPts val="950"/>
                        </a:lnSpc>
                        <a:spcBef>
                          <a:spcPts val="30"/>
                        </a:spcBef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actions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between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wide-ranging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conflicting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technical,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 </a:t>
                      </a:r>
                      <a:r>
                        <a:rPr sz="800" spc="-2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other</a:t>
                      </a:r>
                      <a:r>
                        <a:rPr sz="800" spc="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0" dirty="0">
                          <a:latin typeface="Microsoft Sans Serif"/>
                          <a:cs typeface="Microsoft Sans Serif"/>
                        </a:rPr>
                        <a:t>issues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Innovation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A3:</a:t>
                      </a:r>
                      <a:r>
                        <a:rPr sz="800" b="1" spc="2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Involve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creative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5" dirty="0">
                          <a:latin typeface="Microsoft Sans Serif"/>
                          <a:cs typeface="Microsoft Sans Serif"/>
                        </a:rPr>
                        <a:t>use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engineering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principles</a:t>
                      </a:r>
                      <a:r>
                        <a:rPr sz="800" spc="114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research-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based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knowledge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novel</a:t>
                      </a:r>
                      <a:r>
                        <a:rPr sz="800" spc="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ways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452"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spc="-45" dirty="0">
                          <a:latin typeface="Microsoft Sans Serif"/>
                          <a:cs typeface="Microsoft Sans Serif"/>
                        </a:rPr>
                        <a:t>Consequences</a:t>
                      </a:r>
                      <a:r>
                        <a:rPr sz="800" spc="2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for</a:t>
                      </a:r>
                      <a:r>
                        <a:rPr sz="8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soci-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ety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environment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A4:</a:t>
                      </a:r>
                      <a:r>
                        <a:rPr sz="800" b="1" spc="1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Have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significant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consequences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40" dirty="0">
                          <a:latin typeface="Microsoft Sans Serif"/>
                          <a:cs typeface="Microsoft Sans Serif"/>
                        </a:rPr>
                        <a:t>a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range</a:t>
                      </a:r>
                      <a:r>
                        <a:rPr sz="800" spc="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contexts,</a:t>
                      </a:r>
                      <a:r>
                        <a:rPr sz="800" spc="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char-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acterized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by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difficulty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5" dirty="0">
                          <a:latin typeface="Microsoft Sans Serif"/>
                          <a:cs typeface="Microsoft Sans Serif"/>
                        </a:rPr>
                        <a:t>prediction</a:t>
                      </a:r>
                      <a:r>
                        <a:rPr sz="800" spc="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0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800" spc="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10" dirty="0">
                          <a:latin typeface="Microsoft Sans Serif"/>
                          <a:cs typeface="Microsoft Sans Serif"/>
                        </a:rPr>
                        <a:t>mitigation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465">
                <a:tc>
                  <a:txBody>
                    <a:bodyPr/>
                    <a:lstStyle/>
                    <a:p>
                      <a:pPr marL="75565">
                        <a:lnSpc>
                          <a:spcPts val="840"/>
                        </a:lnSpc>
                      </a:pPr>
                      <a:r>
                        <a:rPr sz="800" dirty="0">
                          <a:latin typeface="Microsoft Sans Serif"/>
                          <a:cs typeface="Microsoft Sans Serif"/>
                        </a:rPr>
                        <a:t>Familiarity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835"/>
                        </a:lnSpc>
                        <a:tabLst>
                          <a:tab pos="365125" algn="l"/>
                        </a:tabLst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A5:	</a:t>
                      </a: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Can</a:t>
                      </a:r>
                      <a:r>
                        <a:rPr sz="800" spc="3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15" dirty="0">
                          <a:latin typeface="Microsoft Sans Serif"/>
                          <a:cs typeface="Microsoft Sans Serif"/>
                        </a:rPr>
                        <a:t>extend</a:t>
                      </a:r>
                      <a:r>
                        <a:rPr sz="800" spc="3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beyond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  <a:p>
                      <a:pPr marL="75565">
                        <a:lnSpc>
                          <a:spcPts val="955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principles-based</a:t>
                      </a:r>
                      <a:r>
                        <a:rPr sz="800" spc="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800" spc="-30" dirty="0">
                          <a:latin typeface="Microsoft Sans Serif"/>
                          <a:cs typeface="Microsoft Sans Serif"/>
                        </a:rPr>
                        <a:t>approaches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ts val="840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previous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840"/>
                        </a:lnSpc>
                      </a:pPr>
                      <a:r>
                        <a:rPr sz="800" spc="-35" dirty="0">
                          <a:latin typeface="Microsoft Sans Serif"/>
                          <a:cs typeface="Microsoft Sans Serif"/>
                        </a:rPr>
                        <a:t>experiences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840"/>
                        </a:lnSpc>
                      </a:pPr>
                      <a:r>
                        <a:rPr sz="800" spc="-25" dirty="0">
                          <a:latin typeface="Microsoft Sans Serif"/>
                          <a:cs typeface="Microsoft Sans Serif"/>
                        </a:rPr>
                        <a:t>by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840"/>
                        </a:lnSpc>
                      </a:pPr>
                      <a:r>
                        <a:rPr sz="800" spc="-10" dirty="0">
                          <a:latin typeface="Microsoft Sans Serif"/>
                          <a:cs typeface="Microsoft Sans Serif"/>
                        </a:rPr>
                        <a:t>applying</a:t>
                      </a:r>
                      <a:endParaRPr sz="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7810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67904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71574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875231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330729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2932" y="969568"/>
            <a:ext cx="4019550" cy="1758314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40" dirty="0">
                <a:latin typeface="Tahoma"/>
                <a:cs typeface="Tahoma"/>
              </a:rPr>
              <a:t>A1:Range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resources</a:t>
            </a:r>
            <a:endParaRPr sz="1100">
              <a:latin typeface="Tahoma"/>
              <a:cs typeface="Tahoma"/>
            </a:endParaRPr>
          </a:p>
          <a:p>
            <a:pPr marL="289560" marR="10922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5" dirty="0">
                <a:latin typeface="Tahoma"/>
                <a:cs typeface="Tahoma"/>
              </a:rPr>
              <a:t>were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available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help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you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carry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out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15" dirty="0">
                <a:latin typeface="Tahoma"/>
                <a:cs typeface="Tahoma"/>
              </a:rPr>
              <a:t>activity?</a:t>
            </a:r>
            <a:endParaRPr sz="1000">
              <a:latin typeface="Tahoma"/>
              <a:cs typeface="Tahoma"/>
            </a:endParaRPr>
          </a:p>
          <a:p>
            <a:pPr marL="289560" marR="334010">
              <a:lnSpc>
                <a:spcPts val="1200"/>
              </a:lnSpc>
              <a:spcBef>
                <a:spcPts val="35"/>
              </a:spcBef>
            </a:pPr>
            <a:r>
              <a:rPr sz="1000" spc="-25" dirty="0">
                <a:latin typeface="Tahoma"/>
                <a:cs typeface="Tahoma"/>
              </a:rPr>
              <a:t>Negotiate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adequate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70" dirty="0">
                <a:latin typeface="Tahoma"/>
                <a:cs typeface="Tahoma"/>
              </a:rPr>
              <a:t>eg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personnel,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funding,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equipment,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authorisations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undertake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materials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35" dirty="0">
                <a:latin typeface="Tahoma"/>
                <a:cs typeface="Tahoma"/>
              </a:rPr>
              <a:t>Develop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plans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(including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budgets)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schedule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availability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endParaRPr sz="1000">
              <a:latin typeface="Tahoma"/>
              <a:cs typeface="Tahoma"/>
            </a:endParaRPr>
          </a:p>
          <a:p>
            <a:pPr marL="289560" marR="172720">
              <a:lnSpc>
                <a:spcPts val="1200"/>
              </a:lnSpc>
              <a:spcBef>
                <a:spcPts val="35"/>
              </a:spcBef>
            </a:pPr>
            <a:r>
              <a:rPr sz="1000" spc="-40" dirty="0">
                <a:latin typeface="Tahoma"/>
                <a:cs typeface="Tahoma"/>
              </a:rPr>
              <a:t>for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allocation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when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required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meet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timelines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financial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commitments.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25" dirty="0">
                <a:latin typeface="Tahoma"/>
                <a:cs typeface="Tahoma"/>
              </a:rPr>
              <a:t>Report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progress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against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schedule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–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work-flow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plans,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budgets,</a:t>
            </a:r>
            <a:endParaRPr sz="10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40"/>
              </a:spcBef>
            </a:pPr>
            <a:r>
              <a:rPr sz="1000" spc="-35" dirty="0">
                <a:latin typeface="Tahoma"/>
                <a:cs typeface="Tahoma"/>
              </a:rPr>
              <a:t>overall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performance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objectives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provide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projections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completion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target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times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budget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24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87059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060412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515897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819567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30033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49015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2793809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2932" y="762063"/>
            <a:ext cx="4022725" cy="227711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35" dirty="0">
                <a:latin typeface="Tahoma"/>
                <a:cs typeface="Tahoma"/>
              </a:rPr>
              <a:t>A2:Level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interactions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other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could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impact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 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matters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related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-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expected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outset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>
              <a:latin typeface="Tahoma"/>
              <a:cs typeface="Tahoma"/>
            </a:endParaRPr>
          </a:p>
          <a:p>
            <a:pPr marL="289560" marR="71755">
              <a:lnSpc>
                <a:spcPts val="1200"/>
              </a:lnSpc>
              <a:spcBef>
                <a:spcPts val="30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unforeseen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arose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during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execution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2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50"/>
              </a:lnSpc>
            </a:pPr>
            <a:r>
              <a:rPr sz="1000" spc="-5" dirty="0">
                <a:latin typeface="Tahoma"/>
                <a:cs typeface="Tahoma"/>
              </a:rPr>
              <a:t>Prior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commencing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work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ensure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all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issues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endParaRPr sz="1000">
              <a:latin typeface="Tahoma"/>
              <a:cs typeface="Tahoma"/>
            </a:endParaRPr>
          </a:p>
          <a:p>
            <a:pPr marL="289560" marR="34925">
              <a:lnSpc>
                <a:spcPts val="1200"/>
              </a:lnSpc>
              <a:spcBef>
                <a:spcPts val="35"/>
              </a:spcBef>
            </a:pPr>
            <a:r>
              <a:rPr sz="1000" spc="-50" dirty="0">
                <a:latin typeface="Tahoma"/>
                <a:cs typeface="Tahoma"/>
              </a:rPr>
              <a:t>resolved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scheduled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meet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plan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targets,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i.e.,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identify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potential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risks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with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respective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proposed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solution.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1100" spc="-25" dirty="0">
                <a:latin typeface="Tahoma"/>
                <a:cs typeface="Tahoma"/>
              </a:rPr>
              <a:t>A3:</a:t>
            </a:r>
            <a:r>
              <a:rPr sz="1100" spc="9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Innovation</a:t>
            </a:r>
            <a:endParaRPr sz="1100">
              <a:latin typeface="Tahoma"/>
              <a:cs typeface="Tahoma"/>
            </a:endParaRPr>
          </a:p>
          <a:p>
            <a:pPr marL="289560" marR="2413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new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techniques,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materials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processes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can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utilised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 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project,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feasibility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study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(technical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80" dirty="0">
                <a:latin typeface="Tahoma"/>
                <a:cs typeface="Tahoma"/>
              </a:rPr>
              <a:t>&amp;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economy),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literature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review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" dirty="0">
                <a:latin typeface="Tahoma"/>
                <a:cs typeface="Tahoma"/>
              </a:rPr>
              <a:t>? 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How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do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proposed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approach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improve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efficiency,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effectiveness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or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quality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work?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25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35" dirty="0">
                <a:solidFill>
                  <a:schemeClr val="accent1"/>
                </a:solidFill>
                <a:latin typeface="Trebuchet MS"/>
                <a:cs typeface="Trebuchet MS"/>
              </a:rPr>
              <a:t>Range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60" dirty="0">
                <a:solidFill>
                  <a:schemeClr val="accent1"/>
                </a:solidFill>
                <a:latin typeface="Trebuchet MS"/>
                <a:cs typeface="Trebuchet MS"/>
              </a:rPr>
              <a:t>Complex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Engineering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50" dirty="0">
                <a:solidFill>
                  <a:schemeClr val="accent1"/>
                </a:solidFill>
                <a:latin typeface="Trebuchet MS"/>
                <a:cs typeface="Trebuchet MS"/>
              </a:rPr>
              <a:t>Activities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3904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253706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557375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73448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924291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215299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2379789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7966" y="2518968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955369"/>
            <a:ext cx="3964304" cy="17938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25" dirty="0">
                <a:latin typeface="Tahoma"/>
                <a:cs typeface="Tahoma"/>
              </a:rPr>
              <a:t>A4:</a:t>
            </a:r>
            <a:r>
              <a:rPr sz="1100" spc="1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Consequences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society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environment</a:t>
            </a:r>
            <a:endParaRPr sz="1100">
              <a:latin typeface="Tahoma"/>
              <a:cs typeface="Tahoma"/>
            </a:endParaRPr>
          </a:p>
          <a:p>
            <a:pPr marL="289560" marR="5778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Tahoma"/>
                <a:cs typeface="Tahoma"/>
              </a:rPr>
              <a:t>What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are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impacts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of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engineering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solution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on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society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environment?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190"/>
              </a:lnSpc>
            </a:pPr>
            <a:r>
              <a:rPr sz="1000" spc="-20" dirty="0">
                <a:latin typeface="Tahoma"/>
                <a:cs typeface="Tahoma"/>
              </a:rPr>
              <a:t>Who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affected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how?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-25" dirty="0">
                <a:latin typeface="Tahoma"/>
                <a:cs typeface="Tahoma"/>
              </a:rPr>
              <a:t>A5:</a:t>
            </a:r>
            <a:r>
              <a:rPr sz="1100" spc="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Familiarity</a:t>
            </a:r>
            <a:endParaRPr sz="1100">
              <a:latin typeface="Tahoma"/>
              <a:cs typeface="Tahoma"/>
            </a:endParaRPr>
          </a:p>
          <a:p>
            <a:pPr marL="289560" marR="5080">
              <a:lnSpc>
                <a:spcPct val="100000"/>
              </a:lnSpc>
              <a:spcBef>
                <a:spcPts val="175"/>
              </a:spcBef>
            </a:pPr>
            <a:r>
              <a:rPr sz="1000" spc="-20" dirty="0">
                <a:latin typeface="Tahoma"/>
                <a:cs typeface="Tahoma"/>
              </a:rPr>
              <a:t>To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what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extent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the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previous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experiences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routinely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encountered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and </a:t>
            </a:r>
            <a:r>
              <a:rPr sz="1000" spc="-3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resolved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using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wellunderstood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practices?</a:t>
            </a:r>
            <a:endParaRPr sz="1000">
              <a:latin typeface="Tahoma"/>
              <a:cs typeface="Tahoma"/>
            </a:endParaRPr>
          </a:p>
          <a:p>
            <a:pPr marL="289560">
              <a:lnSpc>
                <a:spcPts val="1090"/>
              </a:lnSpc>
            </a:pPr>
            <a:r>
              <a:rPr sz="1000" spc="-15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experience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is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a:</a:t>
            </a:r>
            <a:endParaRPr sz="1000">
              <a:latin typeface="Tahoma"/>
              <a:cs typeface="Tahoma"/>
            </a:endParaRPr>
          </a:p>
          <a:p>
            <a:pPr marL="566420" marR="140335" algn="just">
              <a:lnSpc>
                <a:spcPct val="101499"/>
              </a:lnSpc>
              <a:spcBef>
                <a:spcPts val="180"/>
              </a:spcBef>
            </a:pPr>
            <a:r>
              <a:rPr sz="900" spc="-40" dirty="0">
                <a:latin typeface="Microsoft Sans Serif"/>
                <a:cs typeface="Microsoft Sans Serif"/>
              </a:rPr>
              <a:t>New </a:t>
            </a:r>
            <a:r>
              <a:rPr sz="900" spc="-45" dirty="0">
                <a:latin typeface="Microsoft Sans Serif"/>
                <a:cs typeface="Microsoft Sans Serif"/>
              </a:rPr>
              <a:t>experience </a:t>
            </a:r>
            <a:r>
              <a:rPr sz="900" spc="-20" dirty="0">
                <a:latin typeface="Microsoft Sans Serif"/>
                <a:cs typeface="Microsoft Sans Serif"/>
              </a:rPr>
              <a:t>which </a:t>
            </a:r>
            <a:r>
              <a:rPr sz="900" spc="-45" dirty="0">
                <a:latin typeface="Microsoft Sans Serif"/>
                <a:cs typeface="Microsoft Sans Serif"/>
              </a:rPr>
              <a:t>is </a:t>
            </a:r>
            <a:r>
              <a:rPr sz="900" spc="5" dirty="0">
                <a:latin typeface="Microsoft Sans Serif"/>
                <a:cs typeface="Microsoft Sans Serif"/>
              </a:rPr>
              <a:t>not </a:t>
            </a:r>
            <a:r>
              <a:rPr sz="900" spc="-35" dirty="0">
                <a:latin typeface="Microsoft Sans Serif"/>
                <a:cs typeface="Microsoft Sans Serif"/>
              </a:rPr>
              <a:t>previously </a:t>
            </a:r>
            <a:r>
              <a:rPr sz="900" spc="-30" dirty="0">
                <a:latin typeface="Microsoft Sans Serif"/>
                <a:cs typeface="Microsoft Sans Serif"/>
              </a:rPr>
              <a:t>or </a:t>
            </a:r>
            <a:r>
              <a:rPr sz="900" spc="-20" dirty="0">
                <a:latin typeface="Microsoft Sans Serif"/>
                <a:cs typeface="Microsoft Sans Serif"/>
              </a:rPr>
              <a:t>only </a:t>
            </a:r>
            <a:r>
              <a:rPr sz="900" spc="-30" dirty="0">
                <a:latin typeface="Microsoft Sans Serif"/>
                <a:cs typeface="Microsoft Sans Serif"/>
              </a:rPr>
              <a:t>rarely encountered. </a:t>
            </a:r>
            <a:r>
              <a:rPr sz="900" spc="-2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Familiar </a:t>
            </a:r>
            <a:r>
              <a:rPr sz="900" spc="-45" dirty="0">
                <a:latin typeface="Microsoft Sans Serif"/>
                <a:cs typeface="Microsoft Sans Serif"/>
              </a:rPr>
              <a:t>experience </a:t>
            </a:r>
            <a:r>
              <a:rPr sz="900" spc="10" dirty="0">
                <a:latin typeface="Microsoft Sans Serif"/>
                <a:cs typeface="Microsoft Sans Serif"/>
              </a:rPr>
              <a:t>with </a:t>
            </a:r>
            <a:r>
              <a:rPr sz="900" spc="-65" dirty="0">
                <a:latin typeface="Microsoft Sans Serif"/>
                <a:cs typeface="Microsoft Sans Serif"/>
              </a:rPr>
              <a:t>some </a:t>
            </a:r>
            <a:r>
              <a:rPr sz="900" dirty="0">
                <a:latin typeface="Microsoft Sans Serif"/>
                <a:cs typeface="Microsoft Sans Serif"/>
              </a:rPr>
              <a:t>(or </a:t>
            </a:r>
            <a:r>
              <a:rPr sz="900" spc="-15" dirty="0">
                <a:latin typeface="Microsoft Sans Serif"/>
                <a:cs typeface="Microsoft Sans Serif"/>
              </a:rPr>
              <a:t>many) </a:t>
            </a:r>
            <a:r>
              <a:rPr sz="900" spc="-30" dirty="0">
                <a:latin typeface="Microsoft Sans Serif"/>
                <a:cs typeface="Microsoft Sans Serif"/>
              </a:rPr>
              <a:t>unique </a:t>
            </a:r>
            <a:r>
              <a:rPr sz="900" spc="-70" dirty="0">
                <a:latin typeface="Microsoft Sans Serif"/>
                <a:cs typeface="Microsoft Sans Serif"/>
              </a:rPr>
              <a:t>issues </a:t>
            </a:r>
            <a:r>
              <a:rPr sz="900" spc="20" dirty="0">
                <a:latin typeface="Microsoft Sans Serif"/>
                <a:cs typeface="Microsoft Sans Serif"/>
              </a:rPr>
              <a:t>that </a:t>
            </a:r>
            <a:r>
              <a:rPr sz="900" spc="-50" dirty="0">
                <a:latin typeface="Microsoft Sans Serif"/>
                <a:cs typeface="Microsoft Sans Serif"/>
              </a:rPr>
              <a:t>made </a:t>
            </a:r>
            <a:r>
              <a:rPr sz="900" spc="-45" dirty="0">
                <a:latin typeface="Microsoft Sans Serif"/>
                <a:cs typeface="Microsoft Sans Serif"/>
              </a:rPr>
              <a:t> </a:t>
            </a:r>
            <a:r>
              <a:rPr sz="900" spc="-20" dirty="0">
                <a:latin typeface="Microsoft Sans Serif"/>
                <a:cs typeface="Microsoft Sans Serif"/>
              </a:rPr>
              <a:t>communication</a:t>
            </a:r>
            <a:r>
              <a:rPr sz="900" spc="60" dirty="0">
                <a:latin typeface="Microsoft Sans Serif"/>
                <a:cs typeface="Microsoft Sans Serif"/>
              </a:rPr>
              <a:t> </a:t>
            </a:r>
            <a:r>
              <a:rPr sz="900" dirty="0">
                <a:latin typeface="Microsoft Sans Serif"/>
                <a:cs typeface="Microsoft Sans Serif"/>
              </a:rPr>
              <a:t>difficulty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level</a:t>
            </a:r>
            <a:r>
              <a:rPr sz="900" spc="65" dirty="0">
                <a:latin typeface="Microsoft Sans Serif"/>
                <a:cs typeface="Microsoft Sans Serif"/>
              </a:rPr>
              <a:t> </a:t>
            </a:r>
            <a:r>
              <a:rPr sz="900" spc="-40" dirty="0">
                <a:latin typeface="Microsoft Sans Serif"/>
                <a:cs typeface="Microsoft Sans Serif"/>
              </a:rPr>
              <a:t>increased.</a:t>
            </a:r>
            <a:endParaRPr sz="9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26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AI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Powered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Medical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Agent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667" y="704696"/>
            <a:ext cx="2190750" cy="260096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83185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latin typeface="Tahoma"/>
                <a:cs typeface="Tahoma"/>
              </a:rPr>
              <a:t>There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different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types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patients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in.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meet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this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automated </a:t>
            </a:r>
            <a:r>
              <a:rPr sz="1100" spc="-50" dirty="0">
                <a:latin typeface="Tahoma"/>
                <a:cs typeface="Tahoma"/>
              </a:rPr>
              <a:t>agent </a:t>
            </a:r>
            <a:r>
              <a:rPr sz="1100" spc="-70" dirty="0">
                <a:latin typeface="Tahoma"/>
                <a:cs typeface="Tahoma"/>
              </a:rPr>
              <a:t>powered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micro-phone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camera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sensors.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</a:pP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agent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communicate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patients, 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record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their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personal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symptoms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suggest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doctors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or </a:t>
            </a:r>
            <a:r>
              <a:rPr sz="1100" spc="-50" dirty="0">
                <a:latin typeface="Tahoma"/>
                <a:cs typeface="Tahoma"/>
              </a:rPr>
              <a:t> departments.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Previous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customers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remembered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their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medical </a:t>
            </a:r>
            <a:r>
              <a:rPr sz="1100" spc="-35" dirty="0">
                <a:latin typeface="Tahoma"/>
                <a:cs typeface="Tahoma"/>
              </a:rPr>
              <a:t> history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will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taken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into 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consideration.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Design </a:t>
            </a:r>
            <a:r>
              <a:rPr sz="1100" spc="-50" dirty="0">
                <a:latin typeface="Tahoma"/>
                <a:cs typeface="Tahoma"/>
              </a:rPr>
              <a:t>and </a:t>
            </a:r>
            <a:r>
              <a:rPr sz="1100" spc="-55" dirty="0">
                <a:latin typeface="Tahoma"/>
                <a:cs typeface="Tahoma"/>
              </a:rPr>
              <a:t>develop </a:t>
            </a:r>
            <a:r>
              <a:rPr sz="1100" spc="-50" dirty="0">
                <a:latin typeface="Tahoma"/>
                <a:cs typeface="Tahoma"/>
              </a:rPr>
              <a:t> such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powered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medical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agent 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present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your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project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show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front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investors.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0185" y="935951"/>
            <a:ext cx="2165426" cy="21654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27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45" dirty="0">
                <a:solidFill>
                  <a:schemeClr val="accent1"/>
                </a:solidFill>
                <a:latin typeface="Trebuchet MS"/>
                <a:cs typeface="Trebuchet MS"/>
              </a:rPr>
              <a:t>AI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80" dirty="0">
                <a:solidFill>
                  <a:schemeClr val="accent1"/>
                </a:solidFill>
                <a:latin typeface="Trebuchet MS"/>
                <a:cs typeface="Trebuchet MS"/>
              </a:rPr>
              <a:t>Powered</a:t>
            </a:r>
            <a:r>
              <a:rPr sz="1400" spc="3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Medical</a:t>
            </a:r>
            <a:r>
              <a:rPr sz="1400" spc="3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30" dirty="0">
                <a:solidFill>
                  <a:schemeClr val="accent1"/>
                </a:solidFill>
                <a:latin typeface="Trebuchet MS"/>
                <a:cs typeface="Trebuchet MS"/>
              </a:rPr>
              <a:t>Agent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730" y="871306"/>
            <a:ext cx="1082722" cy="22166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0185" y="883970"/>
            <a:ext cx="2165438" cy="21913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28</a:t>
            </a:fld>
            <a:endParaRPr spc="-20" dirty="0"/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4"/>
          <p:cNvSpPr/>
          <p:nvPr/>
        </p:nvSpPr>
        <p:spPr>
          <a:xfrm>
            <a:off x="230505" y="140072"/>
            <a:ext cx="4148727" cy="5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375" tIns="22688" rIns="45375" bIns="22688" anchor="ctr" anchorCtr="0">
            <a:noAutofit/>
          </a:bodyPr>
          <a:lstStyle/>
          <a:p>
            <a:pPr algn="ctr"/>
            <a:r>
              <a:rPr lang="en-US" sz="2218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Resources</a:t>
            </a:r>
            <a:endParaRPr sz="2218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4"/>
          <p:cNvSpPr/>
          <p:nvPr/>
        </p:nvSpPr>
        <p:spPr>
          <a:xfrm>
            <a:off x="230505" y="808355"/>
            <a:ext cx="4148727" cy="2281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375" tIns="22688" rIns="45375" bIns="22688" anchor="t" anchorCtr="0">
            <a:normAutofit/>
          </a:bodyPr>
          <a:lstStyle/>
          <a:p>
            <a:pPr marL="363">
              <a:lnSpc>
                <a:spcPct val="90000"/>
              </a:lnSpc>
              <a:buClr>
                <a:srgbClr val="000000"/>
              </a:buClr>
              <a:buSzPts val="2768"/>
            </a:pPr>
            <a:r>
              <a:rPr lang="en-US" sz="139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Books (Library) </a:t>
            </a:r>
            <a:endParaRPr sz="1396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3">
              <a:lnSpc>
                <a:spcPct val="90000"/>
              </a:lnSpc>
              <a:spcBef>
                <a:spcPts val="323"/>
              </a:spcBef>
              <a:buClr>
                <a:srgbClr val="000000"/>
              </a:buClr>
              <a:buSzPts val="2768"/>
            </a:pPr>
            <a:r>
              <a:rPr lang="en-US" sz="1396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Journals</a:t>
            </a:r>
            <a:endParaRPr sz="1396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Transactions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Elsevier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Springer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EURASIP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MDPI 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883" lvl="1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ts val="2422"/>
            </a:pPr>
            <a:r>
              <a:rPr lang="en-US" sz="122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sz="122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404" lvl="2">
              <a:lnSpc>
                <a:spcPct val="90000"/>
              </a:lnSpc>
              <a:spcBef>
                <a:spcPts val="242"/>
              </a:spcBef>
              <a:buClr>
                <a:srgbClr val="000000"/>
              </a:buClr>
              <a:buSzPts val="2076"/>
            </a:pP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ISI Indexed Journals with IF(</a:t>
            </a:r>
            <a:r>
              <a:rPr lang="en-US" sz="104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Preferably</a:t>
            </a: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404" lvl="2">
              <a:lnSpc>
                <a:spcPct val="90000"/>
              </a:lnSpc>
              <a:spcBef>
                <a:spcPts val="242"/>
              </a:spcBef>
              <a:buClr>
                <a:srgbClr val="000000"/>
              </a:buClr>
              <a:buSzPts val="2076"/>
            </a:pP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Scopus Indexed Journals</a:t>
            </a: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1404" lvl="2">
              <a:lnSpc>
                <a:spcPct val="90000"/>
              </a:lnSpc>
              <a:spcBef>
                <a:spcPts val="242"/>
              </a:spcBef>
              <a:buClr>
                <a:srgbClr val="000000"/>
              </a:buClr>
              <a:buSzPts val="2076"/>
            </a:pPr>
            <a:r>
              <a:rPr lang="en-US" sz="104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URL: sci-hub</a:t>
            </a: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</a:pP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323"/>
              </a:spcBef>
            </a:pP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90000"/>
              </a:lnSpc>
              <a:spcBef>
                <a:spcPts val="323"/>
              </a:spcBef>
            </a:pPr>
            <a:endParaRPr sz="1047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1" name="Google Shape;4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88080" y="808355"/>
            <a:ext cx="921657" cy="69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6067" y="885129"/>
            <a:ext cx="1773800" cy="614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2191" y="1691897"/>
            <a:ext cx="636702" cy="84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6067" y="1730375"/>
            <a:ext cx="1371777" cy="767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4" descr="Promote Academic Integrity | Improve Student Outcomes | Turnitin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81275" y="2627948"/>
            <a:ext cx="1371777" cy="814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140017"/>
            <a:ext cx="4608195" cy="293029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76835" rIns="0" bIns="0" rtlCol="0">
            <a:spAutoFit/>
          </a:bodyPr>
          <a:lstStyle/>
          <a:p>
            <a:pPr marL="107950">
              <a:lnSpc>
                <a:spcPct val="100000"/>
              </a:lnSpc>
              <a:spcBef>
                <a:spcPts val="605"/>
              </a:spcBef>
            </a:pPr>
            <a:r>
              <a:rPr sz="1400" spc="-10" dirty="0">
                <a:solidFill>
                  <a:schemeClr val="accent1"/>
                </a:solidFill>
                <a:latin typeface="Trebuchet MS"/>
                <a:cs typeface="Trebuchet MS"/>
              </a:rPr>
              <a:t>End</a:t>
            </a:r>
            <a:r>
              <a:rPr sz="1400" spc="20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70" dirty="0">
                <a:solidFill>
                  <a:schemeClr val="accent1"/>
                </a:solidFill>
                <a:latin typeface="Trebuchet MS"/>
                <a:cs typeface="Trebuchet MS"/>
              </a:rPr>
              <a:t>of</a:t>
            </a:r>
            <a:r>
              <a:rPr sz="1400" spc="25" dirty="0">
                <a:solidFill>
                  <a:schemeClr val="accent1"/>
                </a:solidFill>
                <a:latin typeface="Trebuchet MS"/>
                <a:cs typeface="Trebuchet MS"/>
              </a:rPr>
              <a:t> </a:t>
            </a:r>
            <a:r>
              <a:rPr sz="1400" spc="-40" dirty="0">
                <a:solidFill>
                  <a:schemeClr val="accent1"/>
                </a:solidFill>
                <a:latin typeface="Trebuchet MS"/>
                <a:cs typeface="Trebuchet MS"/>
              </a:rPr>
              <a:t>Session</a:t>
            </a:r>
            <a:endParaRPr sz="1400" dirty="0">
              <a:solidFill>
                <a:schemeClr val="accent1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5" dirty="0"/>
              <a:t>Complex</a:t>
            </a:r>
            <a:r>
              <a:rPr spc="35" dirty="0"/>
              <a:t> </a:t>
            </a:r>
            <a:r>
              <a:rPr spc="-15" dirty="0"/>
              <a:t>Engineering</a:t>
            </a:r>
            <a:r>
              <a:rPr spc="40" dirty="0"/>
              <a:t> </a:t>
            </a:r>
            <a:r>
              <a:rPr spc="-15" dirty="0"/>
              <a:t>Problems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pc="-20" dirty="0"/>
              <a:t>30</a:t>
            </a:fld>
            <a:endParaRPr spc="-2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754E7-4DFD-2669-2C5F-AAB22AAFE8DE}"/>
              </a:ext>
            </a:extLst>
          </p:cNvPr>
          <p:cNvSpPr txBox="1"/>
          <p:nvPr/>
        </p:nvSpPr>
        <p:spPr>
          <a:xfrm>
            <a:off x="821876" y="1672588"/>
            <a:ext cx="2964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Acknowledgment: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Prof </a:t>
            </a:r>
            <a:r>
              <a:rPr lang="en-GB" sz="1000" dirty="0" err="1"/>
              <a:t>Swakkhar</a:t>
            </a:r>
            <a:r>
              <a:rPr lang="en-GB" sz="1000" dirty="0"/>
              <a:t> </a:t>
            </a:r>
            <a:r>
              <a:rPr lang="en-GB" sz="1000" dirty="0" err="1"/>
              <a:t>Shatabda</a:t>
            </a:r>
            <a:r>
              <a:rPr lang="en-GB" sz="1000" dirty="0"/>
              <a:t> (</a:t>
            </a:r>
            <a:r>
              <a:rPr lang="en-GB" sz="1000" dirty="0" err="1"/>
              <a:t>BracU</a:t>
            </a:r>
            <a:r>
              <a:rPr lang="en-GB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Prof </a:t>
            </a:r>
            <a:r>
              <a:rPr lang="en-GB" sz="1000" dirty="0" err="1"/>
              <a:t>Meghat</a:t>
            </a:r>
            <a:r>
              <a:rPr lang="en-GB" sz="1000" dirty="0"/>
              <a:t> (Board Member, BEM)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Prof AKM </a:t>
            </a:r>
            <a:r>
              <a:rPr lang="en-GB" sz="1000" dirty="0" err="1"/>
              <a:t>Muzahidul</a:t>
            </a:r>
            <a:r>
              <a:rPr lang="en-GB" sz="1000" dirty="0"/>
              <a:t> Islam (UIU)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3068</TotalTime>
  <Words>1909</Words>
  <Application>Microsoft Office PowerPoint</Application>
  <PresentationFormat>Custom</PresentationFormat>
  <Paragraphs>280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Arial MT</vt:lpstr>
      <vt:lpstr>Calibri</vt:lpstr>
      <vt:lpstr>Microsoft Sans Serif</vt:lpstr>
      <vt:lpstr>Tahoma</vt:lpstr>
      <vt:lpstr>Times New Roman</vt:lpstr>
      <vt:lpstr>Trebuchet MS</vt:lpstr>
      <vt:lpstr>Office Theme</vt:lpstr>
      <vt:lpstr>PowerPoint Presentation</vt:lpstr>
      <vt:lpstr>Complex Problem</vt:lpstr>
      <vt:lpstr>Characteristic of a Complex Engineering Problem</vt:lpstr>
      <vt:lpstr>Difficulty &amp; Uncertainty</vt:lpstr>
      <vt:lpstr>PowerPoint Presentation</vt:lpstr>
      <vt:lpstr>PowerPoint Presentation</vt:lpstr>
      <vt:lpstr>PowerPoint Presentation</vt:lpstr>
      <vt:lpstr>Complex Engineering Problem Solving</vt:lpstr>
      <vt:lpstr>Complex Engineering Problem Solving</vt:lpstr>
      <vt:lpstr>Complex Engineering Problem Solving</vt:lpstr>
      <vt:lpstr>An Example</vt:lpstr>
      <vt:lpstr>Aspects</vt:lpstr>
      <vt:lpstr>Thinking</vt:lpstr>
      <vt:lpstr>Solutions?</vt:lpstr>
      <vt:lpstr>Step 1: Define the problem</vt:lpstr>
      <vt:lpstr>Step 2: Gather Information</vt:lpstr>
      <vt:lpstr>Step 3: Generate Multiple Solutions</vt:lpstr>
      <vt:lpstr>Step 4: Analyse and selection a solution</vt:lpstr>
      <vt:lpstr>Step 5: Test and implement a solution</vt:lpstr>
      <vt:lpstr>Another Example</vt:lpstr>
      <vt:lpstr>Another Example</vt:lpstr>
      <vt:lpstr>Another Example</vt:lpstr>
      <vt:lpstr>PowerPoint Presentation</vt:lpstr>
      <vt:lpstr>Range of Complex Engineering Activities</vt:lpstr>
      <vt:lpstr>Range of Complex Engineering Activities</vt:lpstr>
      <vt:lpstr>Range of Complex Engineering Activities</vt:lpstr>
      <vt:lpstr>AI Powered Medical Agent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Engineering Problems and Activities</dc:title>
  <dc:creator>Swakkhar Shatabda</dc:creator>
  <cp:lastModifiedBy>Admin</cp:lastModifiedBy>
  <cp:revision>14</cp:revision>
  <cp:lastPrinted>2024-01-31T07:09:54Z</cp:lastPrinted>
  <dcterms:created xsi:type="dcterms:W3CDTF">2023-09-24T06:18:27Z</dcterms:created>
  <dcterms:modified xsi:type="dcterms:W3CDTF">2026-03-07T05:24:01Z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2023-09-24T00:00:00Z</vt:filetime>
  </property>
</Properties>
</file>